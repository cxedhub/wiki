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7FA0"/>
                </a:solidFill>
                <a:latin typeface="JetBrains Mono"/>
              </a:rPr>
              <a:t>WORKSHOP 03  ·  APRIL 25,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DM Serif Display"/>
              </a:rPr>
              <a:t>Programming Edge/IoT</a:t>
            </a:r>
          </a:p>
          <a:p>
            <a:pPr algn="l"/>
            <a:r>
              <a:rPr sz="4800" b="0" i="0">
                <a:solidFill>
                  <a:srgbClr val="FFFFFF"/>
                </a:solidFill>
                <a:latin typeface="DM Serif Display"/>
              </a:rPr>
              <a:t>Systems with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A7FA0"/>
                </a:solidFill>
                <a:latin typeface="DM Sans"/>
              </a:rPr>
              <a:t>A two-node IoT system built entirely in the MakeCode simulator — sensor node talks to aggregator node, LLM as co-pilot. Your kit ships after.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FA0"/>
                </a:solidFill>
                <a:latin typeface="DM Sans"/>
              </a:rPr>
              <a:t>April 25, 2026  ·  8:30 AM – 12:00 PM PST  ·  Virtual</a:t>
            </a:r>
          </a:p>
          <a:p>
            <a:pPr algn="l"/>
            <a:r>
              <a:rPr sz="1000" b="0" i="0">
                <a:solidFill>
                  <a:srgbClr val="5A7FA0"/>
                </a:solidFill>
                <a:latin typeface="DM Sans"/>
              </a:rPr>
              <a:t>CRAFT PD Series  ·  UCF DRACO Lab &amp; School of Teacher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1B2A4A"/>
                </a:solidFill>
                <a:latin typeface="DM Serif Display"/>
              </a:rPr>
              <a:t>The CRAFT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7FA0"/>
                </a:solidFill>
                <a:latin typeface="DM Sans"/>
              </a:rPr>
              <a:t>Today's session IS a CRAFT cycle. You'll experience it — then learn to build your 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1993392" cy="36576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99339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DM Serif Display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DM Sans"/>
              </a:rPr>
              <a:t>CONTEXTUALIZE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663440"/>
            <a:ext cx="17190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DM Sans"/>
              </a:rPr>
              <a:t>Why it matters — real-world framing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953512" y="2286000"/>
            <a:ext cx="1993392" cy="3657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651760"/>
            <a:ext cx="199339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DM Serif Display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411480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DM Sans"/>
              </a:rPr>
              <a:t>REFRAME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4663440"/>
            <a:ext cx="17190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DM Sans"/>
              </a:rPr>
              <a:t>Surface the wrong model → install the right 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4064" y="2286000"/>
            <a:ext cx="1993392" cy="36576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2651760"/>
            <a:ext cx="199339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DM Serif Display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411480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DM Sans"/>
              </a:rPr>
              <a:t>ASSEMBLE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4663440"/>
            <a:ext cx="17190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DM Sans"/>
              </a:rPr>
              <a:t>I Do → We Do → You 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14616" y="2286000"/>
            <a:ext cx="1993392" cy="365760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4616" y="2651760"/>
            <a:ext cx="199339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DM Serif Display"/>
              </a:rP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411480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DM Sans"/>
              </a:rPr>
              <a:t>FORTIFY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4663440"/>
            <a:ext cx="17190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DM Sans"/>
              </a:rPr>
              <a:t>Verify with tools + AI; errors are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5168" y="2286000"/>
            <a:ext cx="1993392" cy="3657600"/>
          </a:xfrm>
          <a:prstGeom prst="rect">
            <a:avLst/>
          </a:prstGeom>
          <a:solidFill>
            <a:srgbClr val="8E6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8" y="2651760"/>
            <a:ext cx="199339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DM Serif Display"/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411480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DM Sans"/>
              </a:rPr>
              <a:t>TRANSFER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4663440"/>
            <a:ext cx="17190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DM Sans"/>
              </a:rPr>
              <a:t>Connect forward to your classroom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A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005840" cy="2926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YOU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7FA0"/>
                </a:solidFill>
                <a:latin typeface="JetBrains Mono"/>
              </a:rPr>
              <a:t>8:30 (15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B2A4A"/>
                </a:solidFill>
                <a:latin typeface="DM Serif Display"/>
              </a:rPr>
              <a:t>Simulator Check: Your micro:bit Is a Browser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C4A6E"/>
                </a:solidFill>
                <a:latin typeface="DM Sans"/>
              </a:rPr>
              <a:t>No hardware needed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Open makecode.microbit.org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Drop show string "hi" in on start — watch the sim scroll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Drop radio send number in — a second simulator appears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That's our IoT system. Complete the pre-survey.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  <a:latin typeface="DM Sans"/>
              </a:rPr>
              <a:t>→ makecode.microbit.org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JetBrains Mono"/>
              </a:rPr>
              <a:t>8:45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0" i="0">
                <a:solidFill>
                  <a:srgbClr val="D4A843"/>
                </a:solidFill>
                <a:latin typeface="DM Serif Display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DM Serif Display"/>
              </a:rPr>
              <a:t>Contextualize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7FA0"/>
                </a:solidFill>
                <a:latin typeface="DM Sans"/>
              </a:rPr>
              <a:t>IoT is a conversation between two roles: sensor nodes + aggregator nodes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005840" cy="2926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YOU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502920"/>
            <a:ext cx="1371600" cy="292608"/>
          </a:xfrm>
          <a:prstGeom prst="rect">
            <a:avLst/>
          </a:prstGeom>
          <a:noFill/>
          <a:ln w="15875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D4A843"/>
                </a:solidFill>
                <a:latin typeface="DM Sans"/>
              </a:rPr>
              <a:t>CONTEXTUALIZE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7FA0"/>
                </a:solidFill>
                <a:latin typeface="JetBrains Mono"/>
              </a:rPr>
              <a:t>8:45 (15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B2A4A"/>
                </a:solidFill>
                <a:latin typeface="DM Serif Display"/>
              </a:rPr>
              <a:t>Brainstorm: Two-Node Scenarios in Your 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C4A6E"/>
                </a:solidFill>
                <a:latin typeface="DM Sans"/>
              </a:rPr>
              <a:t>In the shared doc: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Name a real-world sensor → aggregator pair from a topic you teach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E.g., soil-moisture sensors → irrigation controller; pedometers → class dashboard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Star a favorite from someone else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  <a:latin typeface="DM Sans"/>
              </a:rPr>
              <a:t>→ Open Shared Doc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JetBrains Mono"/>
              </a:rPr>
              <a:t>9:00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0" i="0">
                <a:solidFill>
                  <a:srgbClr val="C0392B"/>
                </a:solidFill>
                <a:latin typeface="DM Serif Display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DM Serif Display"/>
              </a:rPr>
              <a:t>Reframe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7FA0"/>
                </a:solidFill>
                <a:latin typeface="DM Sans"/>
              </a:rPr>
              <a:t>Physical computing lives in the browser too — the simulator is a real micro:bit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005840" cy="2926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YOU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502920"/>
            <a:ext cx="1371600" cy="292608"/>
          </a:xfrm>
          <a:prstGeom prst="rect">
            <a:avLst/>
          </a:prstGeom>
          <a:noFill/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C0392B"/>
                </a:solidFill>
                <a:latin typeface="DM Sans"/>
              </a:rPr>
              <a:t>REFRAME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7FA0"/>
                </a:solidFill>
                <a:latin typeface="JetBrains Mono"/>
              </a:rPr>
              <a:t>9:15 (15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B2A4A"/>
                </a:solidFill>
                <a:latin typeface="DM Serif Display"/>
              </a:rPr>
              <a:t>Breakout: Teaching Hardware Without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C4A6E"/>
                </a:solidFill>
                <a:latin typeface="DM Sans"/>
              </a:rPr>
              <a:t>In small groups: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#1 barrier to IoT in your building? (budget / shipping / breakage / absences / comfort)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What does a simulator-first approach solve — and what do you lose?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Post the trade-off in the shared doc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005840" cy="29260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7FA0"/>
                </a:solidFill>
                <a:latin typeface="JetBrains Mono"/>
              </a:rPr>
              <a:t>9:30 (15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B2A4A"/>
                </a:solidFill>
                <a:latin typeface="DM Serif Display"/>
              </a:rPr>
              <a:t>Break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C4A6E"/>
                </a:solidFill>
                <a:latin typeface="DM Sans"/>
              </a:rPr>
              <a:t>Stretch. Confirm MakeCode is loaded and at least one simulator is visible.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JetBrains Mono"/>
              </a:rPr>
              <a:t>9:45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0" i="0">
                <a:solidFill>
                  <a:srgbClr val="27AE60"/>
                </a:solidFill>
                <a:latin typeface="DM Serif Display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DM Serif Display"/>
              </a:rPr>
              <a:t>Assemble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7FA0"/>
                </a:solidFill>
                <a:latin typeface="DM Sans"/>
              </a:rPr>
              <a:t>Sensor Node → Aggregator Node — one conversation, two simulators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005840" cy="2926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YOU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502920"/>
            <a:ext cx="1371600" cy="292608"/>
          </a:xfrm>
          <a:prstGeom prst="rect">
            <a:avLst/>
          </a:prstGeom>
          <a:noFill/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7AE60"/>
                </a:solidFill>
                <a:latin typeface="DM Sans"/>
              </a:rPr>
              <a:t>ASSEMBLE · LIVE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7FA0"/>
                </a:solidFill>
                <a:latin typeface="JetBrains Mono"/>
              </a:rPr>
              <a:t>9:45 (30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B2A4A"/>
                </a:solidFill>
                <a:latin typeface="DM Serif Display"/>
              </a:rPr>
              <a:t>Server Room Guardian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C4A6E"/>
                </a:solidFill>
                <a:latin typeface="DM Sans"/>
              </a:rPr>
              <a:t>Watch a live build of sensor + aggregator, then swap in your own sensor.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Sensor broadcasts input.temperature() on radio group 7 every 2s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Aggregator receives and displays — your hand warms the sim, the aggregator reacts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Key move: LLM generates the code; toggle Blocks ↔ JavaScript to understand it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Your turn: swap temp for light / accel / sound / compass — save TWO .hex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  <a:latin typeface="DM Sans"/>
              </a:rPr>
              <a:t>→ makecode.microbit.org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005840" cy="2926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YOU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502920"/>
            <a:ext cx="1371600" cy="292608"/>
          </a:xfrm>
          <a:prstGeom prst="rect">
            <a:avLst/>
          </a:prstGeom>
          <a:noFill/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7AE60"/>
                </a:solidFill>
                <a:latin typeface="DM Sans"/>
              </a:rPr>
              <a:t>ASSEMBLE · ENHANCE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7FA0"/>
                </a:solidFill>
                <a:latin typeface="JetBrains Mono"/>
              </a:rPr>
              <a:t>10:15 (30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B2A4A"/>
                </a:solidFill>
                <a:latin typeface="DM Serif Display"/>
              </a:rPr>
              <a:t>Enhancements + Brainstorm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C4A6E"/>
                </a:solidFill>
                <a:latin typeface="DM Sans"/>
              </a:rPr>
              <a:t>Two live upgrades, then you extend your own pair.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Liveness ping: aggregator sends PING, sensor replies ACK, dead-node warning on silence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Data panel: wire incoming readings into MakeCode's live graph instead of scrolling LEDs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Brainstorm: what's possible when nodes talk back + trends are visible?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Build time: thresholds, alerts, bidirectional commands — log prompt → response → fix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005840" cy="29260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7FA0"/>
                </a:solidFill>
                <a:latin typeface="JetBrains Mono"/>
              </a:rPr>
              <a:t>10:45 (15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B2A4A"/>
                </a:solidFill>
                <a:latin typeface="DM Serif Display"/>
              </a:rPr>
              <a:t>Break #2 — Show &amp; Tell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C4A6E"/>
                </a:solidFill>
                <a:latin typeface="DM Sans"/>
              </a:rPr>
              <a:t>Screenshot your paired simulators (sender + aggregator) in the chat.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005840" cy="2926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YOU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7FA0"/>
                </a:solidFill>
                <a:latin typeface="JetBrains Mono"/>
              </a:rPr>
              <a:t>11:00 (30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B2A4A"/>
                </a:solidFill>
                <a:latin typeface="DM Serif Display"/>
              </a:rPr>
              <a:t>Level Up: Choose Your Track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120640" cy="3840480"/>
          </a:xfrm>
          <a:prstGeom prst="rect">
            <a:avLst/>
          </a:prstGeom>
          <a:solidFill>
            <a:srgbClr val="E8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DM Sans"/>
              </a:rPr>
              <a:t>TRACK A: MULTI-SENSOR MESH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5720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4A6E"/>
                </a:solidFill>
                <a:latin typeface="DM Sans"/>
              </a:rPr>
              <a:t>Open your Sensor project in a 2nd browser tab for a 2nd Sensor Node (MakeCode pairs two sims per tab; tabs share the radio channel). Each sender includes an ID. Aggregator tracks per-sender averages and flags drop-offs.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5120640" cy="3840480"/>
          </a:xfrm>
          <a:prstGeom prst="rect">
            <a:avLst/>
          </a:prstGeom>
          <a:solidFill>
            <a:srgbClr val="F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DM Sans"/>
              </a:rPr>
              <a:t>TRACK B: MICROPYTHON 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5720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4A6E"/>
                </a:solidFill>
                <a:latin typeface="DM Sans"/>
              </a:rPr>
              <a:t>Port sender + receiver to python.microbit.org. Ask an LLM for the translation; run both in the MicroPython simulator and verify messages still 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JetBrains Mono"/>
              </a:rPr>
              <a:t>11:30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0" i="0">
                <a:solidFill>
                  <a:srgbClr val="1ABC9C"/>
                </a:solidFill>
                <a:latin typeface="DM Serif Display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DM Serif Display"/>
              </a:rPr>
              <a:t>Fortify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7FA0"/>
                </a:solidFill>
                <a:latin typeface="DM Sans"/>
              </a:rPr>
              <a:t>Does your two-node system tell the truth?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005840" cy="2926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YOU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502920"/>
            <a:ext cx="1371600" cy="292608"/>
          </a:xfrm>
          <a:prstGeom prst="rect">
            <a:avLst/>
          </a:prstGeom>
          <a:noFill/>
          <a:ln w="15875">
            <a:solidFill>
              <a:srgbClr val="1A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1ABC9C"/>
                </a:solidFill>
                <a:latin typeface="DM Sans"/>
              </a:rPr>
              <a:t>FORTIFY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7FA0"/>
                </a:solidFill>
                <a:latin typeface="JetBrains Mono"/>
              </a:rPr>
              <a:t>11:30 (15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B2A4A"/>
                </a:solidFill>
                <a:latin typeface="DM Serif Display"/>
              </a:rPr>
              <a:t>Experiment: Verify Your Simulated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C4A6E"/>
                </a:solidFill>
                <a:latin typeface="DM Sans"/>
              </a:rPr>
              <a:t>Stress your Sensor + Aggregator: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Drag the sim's temp slider to extremes — does the running avg respond?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Change the Sensor's radio group — Aggregator should fall silent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Remove radio set group — watch the failure mode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CtM: Task → Before → After → Takeaway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Kit-arrives preview: real temp sensor reads CPU, not ambient (3–8°C hot)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E6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  <a:latin typeface="JetBrains Mono"/>
              </a:rPr>
              <a:t>11:45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0" i="0">
                <a:solidFill>
                  <a:srgbClr val="8E6BBF"/>
                </a:solidFill>
                <a:latin typeface="DM Serif Display"/>
              </a:rPr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DM Serif Display"/>
              </a:rPr>
              <a:t>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7FA0"/>
                </a:solidFill>
                <a:latin typeface="DM Sans"/>
              </a:rPr>
              <a:t>Two-node lesson for YOUR classroom — then unlock your kit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E6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005840" cy="2926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YOU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502920"/>
            <a:ext cx="1371600" cy="292608"/>
          </a:xfrm>
          <a:prstGeom prst="rect">
            <a:avLst/>
          </a:prstGeom>
          <a:noFill/>
          <a:ln w="15875">
            <a:solidFill>
              <a:srgbClr val="8E6B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8E6BBF"/>
                </a:solidFill>
                <a:latin typeface="DM Sans"/>
              </a:rPr>
              <a:t>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7FA0"/>
                </a:solidFill>
                <a:latin typeface="JetBrains Mono"/>
              </a:rPr>
              <a:t>11:45 (15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B2A4A"/>
                </a:solidFill>
                <a:latin typeface="DM Serif Display"/>
              </a:rPr>
              <a:t>Build: Your Two-Node IoT Lesson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C4A6E"/>
                </a:solidFill>
                <a:latin typeface="DM Sans"/>
              </a:rPr>
              <a:t>Customize the template: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What does the Sensor Node sense? Who holds it?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What does the Aggregator Node decide / display? Who runs it?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Student-facing CtM prompt · NGSS standard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B2A4A"/>
                </a:solidFill>
                <a:latin typeface="DM Sans"/>
              </a:rPr>
              <a:t>•  Post in shared doc + complete post-survey → kit ships 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  <a:latin typeface="DM Sans"/>
              </a:rPr>
              <a:t>→ Open IoT Lesson Template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1B2A4A"/>
                </a:solidFill>
                <a:latin typeface="DM Serif Display"/>
              </a:rPr>
              <a:t>Your Resource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7FA0"/>
                </a:solidFill>
                <a:latin typeface="DM Sans"/>
              </a:rPr>
              <a:t>Everything is yours. Bookmark, download, remix. Hardware ships after.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51206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DM Sans"/>
              </a:rPr>
              <a:t>Sensor + Aggregator .hex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DM Sans"/>
              </a:rPr>
              <a:t>MakeCode files from today — flash when kit arrives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011680"/>
            <a:ext cx="51206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DM Sans"/>
              </a:rPr>
              <a:t>MicroPython Radio Starters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060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DM Sans"/>
              </a:rPr>
              <a:t>Sender + receiver in 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83280"/>
            <a:ext cx="51206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66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DM Sans"/>
              </a:rPr>
              <a:t>Sensor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776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DM Sans"/>
              </a:rPr>
              <a:t>All micro:bit V2 sensors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383280"/>
            <a:ext cx="51206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566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DM Sans"/>
              </a:rPr>
              <a:t>NGSS Crosswalk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9776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DM Sans"/>
              </a:rPr>
              <a:t>IoT ↔ standards mapping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54880"/>
            <a:ext cx="51206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937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DM Sans"/>
              </a:rPr>
              <a:t>Two-Node Lesson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492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DM Sans"/>
              </a:rPr>
              <a:t>NGSS-aligned, customizable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754880"/>
            <a:ext cx="51206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937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DM Sans"/>
              </a:rPr>
              <a:t>micro:bit V2 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3492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DM Sans"/>
              </a:rPr>
              <a:t>Mailed after post-survey + lesson draft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DM Serif Display"/>
              </a:rPr>
              <a:t>You just built a two-node IoT system</a:t>
            </a:r>
          </a:p>
          <a:p>
            <a:pPr algn="ctr"/>
            <a:r>
              <a:rPr sz="2600" b="0" i="1">
                <a:solidFill>
                  <a:srgbClr val="FFFFFF"/>
                </a:solidFill>
                <a:latin typeface="DM Serif Display"/>
              </a:rPr>
              <a:t>in a browser, with AI as your co-pilot,</a:t>
            </a:r>
          </a:p>
          <a:p>
            <a:pPr algn="ctr"/>
            <a:r>
              <a:rPr sz="2600" b="0" i="1">
                <a:solidFill>
                  <a:srgbClr val="FFFFFF"/>
                </a:solidFill>
                <a:latin typeface="DM Serif Display"/>
              </a:rPr>
              <a:t>and verified it like an engineer.</a:t>
            </a:r>
          </a:p>
          <a:p>
            <a:pPr algn="ctr"/>
            <a:r>
              <a:rPr sz="2600" b="0" i="1">
                <a:solidFill>
                  <a:srgbClr val="FFFFFF"/>
                </a:solidFill>
                <a:latin typeface="DM Serif Display"/>
              </a:rPr>
              <a:t>Your students can do this too —</a:t>
            </a:r>
          </a:p>
          <a:p>
            <a:pPr algn="ctr"/>
            <a:r>
              <a:rPr sz="2600" b="0" i="1">
                <a:solidFill>
                  <a:srgbClr val="FFFFFF"/>
                </a:solidFill>
                <a:latin typeface="DM Serif Display"/>
              </a:rPr>
              <a:t>even in schools with zero hardware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7FA0"/>
                </a:solidFill>
                <a:latin typeface="DM Sans"/>
              </a:rPr>
              <a:t>CRAFT PD Series  ·  UCF DRACO Lab &amp; School of Teacher Education</a:t>
            </a:r>
          </a:p>
          <a:p>
            <a:pPr algn="ctr"/>
            <a:r>
              <a:rPr sz="1100" b="0" i="0">
                <a:solidFill>
                  <a:srgbClr val="5A7FA0"/>
                </a:solidFill>
                <a:latin typeface="DM Sans"/>
              </a:rPr>
              <a:t>Dr. Mike Borowczak &amp; Dr. Andrea Borowczak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