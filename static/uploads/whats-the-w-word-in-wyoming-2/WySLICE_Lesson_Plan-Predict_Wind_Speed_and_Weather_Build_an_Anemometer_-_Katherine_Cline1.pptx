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obo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Roboto-bold.fntdata"/><Relationship Id="rId10" Type="http://schemas.openxmlformats.org/officeDocument/2006/relationships/slide" Target="slides/slide5.xml"/><Relationship Id="rId21" Type="http://schemas.openxmlformats.org/officeDocument/2006/relationships/font" Target="fonts/Roboto-regular.fntdata"/><Relationship Id="rId13" Type="http://schemas.openxmlformats.org/officeDocument/2006/relationships/slide" Target="slides/slide8.xml"/><Relationship Id="rId24" Type="http://schemas.openxmlformats.org/officeDocument/2006/relationships/font" Target="fonts/Roboto-boldItalic.fntdata"/><Relationship Id="rId12" Type="http://schemas.openxmlformats.org/officeDocument/2006/relationships/slide" Target="slides/slide7.xml"/><Relationship Id="rId23"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36a4d7ea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36a4d7ea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36a4d7eaa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36a4d7eaa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36a4d7eaa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36a4d7eaa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36a4d7eaa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36a4d7eaa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36a4d7eaa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36a4d7eaa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36a4d7eaa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36a4d7eaa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36a4d7eaa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36a4d7eaa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36a4d7eaa0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36a4d7eaa0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36a4d7eaa0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36a4d7eaa0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36a4d7eaa0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36a4d7eaa0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36a4d7eaa0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36a4d7eaa0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36a4d7eaa0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36a4d7eaa0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36a4d7eaa0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36a4d7eaa0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36a4d7eaa0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36a4d7eaa0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youtube.com/watch?v=jTWwnUIygc8" TargetMode="Externa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youtube.com/watch?v=Af0LB3abBsk&amp;t=18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timer-tab.com/" TargetMode="External"/><Relationship Id="rId4" Type="http://schemas.openxmlformats.org/officeDocument/2006/relationships/hyperlink" Target="https://docs.google.com/document/d/1syuRX6nR6SLZTm2Ih0XnYJGaw3UID25JeV-2kJ0oXuA/edit?usp=sharin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cms-tc.pbskids.org/global/NC-Weather-Tracker.pdf"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docs.google.com/spreadsheets/d/1g41TXTdCjtsjr4Sl9Nqd1ObBo2qY9doeEYMD2lZ34zY/edit?usp=sharin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What’s The “W” Word in Wyoming?</a:t>
            </a:r>
            <a:endParaRPr/>
          </a:p>
        </p:txBody>
      </p:sp>
      <p:sp>
        <p:nvSpPr>
          <p:cNvPr id="86" name="Google Shape;86;p13"/>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By Ms. Cline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Background Knowledge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Any guesses on a “W” word that we hear almost everyday in Wyoming? Share with your partner and make a list, be ready to share!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You guessed it!  It’s Wind!</a:t>
            </a:r>
            <a:endParaRPr/>
          </a:p>
        </p:txBody>
      </p:sp>
      <p:sp>
        <p:nvSpPr>
          <p:cNvPr id="97" name="Google Shape;97;p1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Almost everyday, you hear someone comment (or complain:) about the wind. </a:t>
            </a:r>
            <a:endParaRPr/>
          </a:p>
          <a:p>
            <a:pPr indent="0" lvl="0" marL="0" rtl="0" algn="l">
              <a:spcBef>
                <a:spcPts val="1200"/>
              </a:spcBef>
              <a:spcAft>
                <a:spcPts val="0"/>
              </a:spcAft>
              <a:buNone/>
            </a:pPr>
            <a:r>
              <a:rPr lang="en"/>
              <a:t>What are some things you’ve heard people say about the wind in Rawlins? </a:t>
            </a:r>
            <a:endParaRPr/>
          </a:p>
          <a:p>
            <a:pPr indent="0" lvl="0" marL="0" rtl="0" algn="l">
              <a:spcBef>
                <a:spcPts val="1200"/>
              </a:spcBef>
              <a:spcAft>
                <a:spcPts val="1200"/>
              </a:spcAft>
              <a:buNone/>
            </a:pPr>
            <a:r>
              <a:rPr lang="en"/>
              <a:t>The wind is almost like a warning to us about the weather, and we are going to use wind as a tool to make predictions about our weather.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 we measure wind?</a:t>
            </a:r>
            <a:endParaRPr/>
          </a:p>
        </p:txBody>
      </p:sp>
      <p:sp>
        <p:nvSpPr>
          <p:cNvPr id="103" name="Google Shape;103;p1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 you don’t just look at your cell phone and check!</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Turn to your partner and see if you can take any guesses.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Did anyone guess </a:t>
            </a:r>
            <a:r>
              <a:rPr lang="en"/>
              <a:t>Anemometer</a:t>
            </a:r>
            <a:r>
              <a:rPr lang="en"/>
              <a:t>? </a:t>
            </a:r>
            <a:endParaRPr/>
          </a:p>
        </p:txBody>
      </p:sp>
      <p:sp>
        <p:nvSpPr>
          <p:cNvPr id="109" name="Google Shape;109;p1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en" u="sng">
                <a:solidFill>
                  <a:schemeClr val="hlink"/>
                </a:solidFill>
                <a:hlinkClick r:id="rId3"/>
              </a:rPr>
              <a:t>://www.youtube.com/watch?v=jTWwnUIygc8</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https://www.youtube.com/watch?v=yU6CIoGDY2Q</a:t>
            </a:r>
            <a:endParaRPr/>
          </a:p>
        </p:txBody>
      </p:sp>
      <p:pic>
        <p:nvPicPr>
          <p:cNvPr id="110" name="Google Shape;110;p17"/>
          <p:cNvPicPr preferRelativeResize="0"/>
          <p:nvPr/>
        </p:nvPicPr>
        <p:blipFill>
          <a:blip r:embed="rId4">
            <a:alphaModFix/>
          </a:blip>
          <a:stretch>
            <a:fillRect/>
          </a:stretch>
        </p:blipFill>
        <p:spPr>
          <a:xfrm>
            <a:off x="5825700" y="238125"/>
            <a:ext cx="3164550" cy="4380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Learning Targets</a:t>
            </a:r>
            <a:endParaRPr/>
          </a:p>
        </p:txBody>
      </p:sp>
      <p:sp>
        <p:nvSpPr>
          <p:cNvPr id="116" name="Google Shape;116;p1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will use data to make predictions and communicate ideas based on wind speeds in Rawlins, Wyoming.</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I will build a wind anemometer and use it to predict wind speeds and chart the information that I collect.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Build an Anemometer</a:t>
            </a:r>
            <a:endParaRPr/>
          </a:p>
        </p:txBody>
      </p:sp>
      <p:sp>
        <p:nvSpPr>
          <p:cNvPr id="122" name="Google Shape;122;p19"/>
          <p:cNvSpPr txBox="1"/>
          <p:nvPr>
            <p:ph idx="1" type="body"/>
          </p:nvPr>
        </p:nvSpPr>
        <p:spPr>
          <a:xfrm>
            <a:off x="311700" y="921550"/>
            <a:ext cx="8520600" cy="4082700"/>
          </a:xfrm>
          <a:prstGeom prst="rect">
            <a:avLst/>
          </a:prstGeom>
        </p:spPr>
        <p:txBody>
          <a:bodyPr anchorCtr="0" anchor="t" bIns="91425" lIns="91425" spcFirstLastPara="1" rIns="91425" wrap="square" tIns="91425">
            <a:normAutofit fontScale="40000" lnSpcReduction="20000"/>
          </a:bodyPr>
          <a:lstStyle/>
          <a:p>
            <a:pPr indent="0" lvl="0" marL="0" rtl="0" algn="l">
              <a:spcBef>
                <a:spcPts val="0"/>
              </a:spcBef>
              <a:spcAft>
                <a:spcPts val="0"/>
              </a:spcAft>
              <a:buNone/>
            </a:pPr>
            <a:r>
              <a:rPr lang="en" sz="5050" u="sng">
                <a:solidFill>
                  <a:schemeClr val="hlink"/>
                </a:solidFill>
                <a:hlinkClick r:id="rId3"/>
              </a:rPr>
              <a:t>https://www.youtube.com/watch?v=Af0LB3abBsk&amp;t=18s</a:t>
            </a:r>
            <a:endParaRPr sz="5050"/>
          </a:p>
          <a:p>
            <a:pPr indent="0" lvl="0" marL="0" rtl="0" algn="l">
              <a:spcBef>
                <a:spcPts val="1200"/>
              </a:spcBef>
              <a:spcAft>
                <a:spcPts val="0"/>
              </a:spcAft>
              <a:buNone/>
            </a:pPr>
            <a:r>
              <a:rPr lang="en" sz="6041"/>
              <a:t>Supplies: </a:t>
            </a:r>
            <a:endParaRPr sz="6041"/>
          </a:p>
          <a:p>
            <a:pPr indent="0" lvl="0" marL="0" rtl="0" algn="l">
              <a:spcBef>
                <a:spcPts val="1200"/>
              </a:spcBef>
              <a:spcAft>
                <a:spcPts val="0"/>
              </a:spcAft>
              <a:buNone/>
            </a:pPr>
            <a:r>
              <a:rPr lang="en" sz="6041"/>
              <a:t>- a sharpened pencil with an eraser on the end</a:t>
            </a:r>
            <a:endParaRPr sz="6041"/>
          </a:p>
          <a:p>
            <a:pPr indent="0" lvl="0" marL="0" rtl="0" algn="l">
              <a:spcBef>
                <a:spcPts val="1200"/>
              </a:spcBef>
              <a:spcAft>
                <a:spcPts val="0"/>
              </a:spcAft>
              <a:buNone/>
            </a:pPr>
            <a:r>
              <a:rPr lang="en" sz="6041"/>
              <a:t>-a hole punch</a:t>
            </a:r>
            <a:endParaRPr sz="6041"/>
          </a:p>
          <a:p>
            <a:pPr indent="0" lvl="0" marL="0" rtl="0" algn="l">
              <a:spcBef>
                <a:spcPts val="1200"/>
              </a:spcBef>
              <a:spcAft>
                <a:spcPts val="0"/>
              </a:spcAft>
              <a:buNone/>
            </a:pPr>
            <a:r>
              <a:rPr lang="en" sz="6041"/>
              <a:t>-a pushpin</a:t>
            </a:r>
            <a:endParaRPr sz="6041"/>
          </a:p>
          <a:p>
            <a:pPr indent="0" lvl="0" marL="0" rtl="0" algn="l">
              <a:spcBef>
                <a:spcPts val="1200"/>
              </a:spcBef>
              <a:spcAft>
                <a:spcPts val="0"/>
              </a:spcAft>
              <a:buNone/>
            </a:pPr>
            <a:r>
              <a:rPr lang="en" sz="6041"/>
              <a:t>-5- 3 oz paper cups</a:t>
            </a:r>
            <a:endParaRPr sz="6041"/>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Day 2-Using our Anemometer</a:t>
            </a:r>
            <a:endParaRPr/>
          </a:p>
        </p:txBody>
      </p:sp>
      <p:sp>
        <p:nvSpPr>
          <p:cNvPr id="128" name="Google Shape;128;p2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Target</a:t>
            </a:r>
            <a:endParaRPr/>
          </a:p>
          <a:p>
            <a:pPr indent="0" lvl="0" marL="0" rtl="0" algn="l">
              <a:spcBef>
                <a:spcPts val="1200"/>
              </a:spcBef>
              <a:spcAft>
                <a:spcPts val="0"/>
              </a:spcAft>
              <a:buNone/>
            </a:pPr>
            <a:r>
              <a:rPr lang="en"/>
              <a:t>We will test our anemometers today in front of a fan at low and high speeds to determine if we can improve our model before we test it outside. </a:t>
            </a:r>
            <a:endParaRPr/>
          </a:p>
          <a:p>
            <a:pPr indent="0" lvl="0" marL="0" rtl="0" algn="l">
              <a:spcBef>
                <a:spcPts val="1200"/>
              </a:spcBef>
              <a:spcAft>
                <a:spcPts val="0"/>
              </a:spcAft>
              <a:buNone/>
            </a:pPr>
            <a:r>
              <a:rPr lang="en"/>
              <a:t>I will test my anemometer in front of the fan at low and high speeds to do a test run.  I will fix any issues and practice counting the rotations to determine the wind speed.</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i="1" lang="en" sz="1382">
                <a:solidFill>
                  <a:srgbClr val="4A86E8"/>
                </a:solidFill>
              </a:rPr>
              <a:t>3-5-ETS1-3. Plan and carry out fair tests in which variables are controlled and failure points are considered to identify aspects of a model or prototype that can be improved. </a:t>
            </a:r>
            <a:endParaRPr i="1" sz="1382">
              <a:solidFill>
                <a:srgbClr val="4A86E8"/>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Counting rotations</a:t>
            </a:r>
            <a:endParaRPr/>
          </a:p>
        </p:txBody>
      </p:sp>
      <p:sp>
        <p:nvSpPr>
          <p:cNvPr id="134" name="Google Shape;134;p2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On one of your cups, you are going to put a large red </a:t>
            </a:r>
            <a:r>
              <a:rPr lang="en"/>
              <a:t>circle with permanent marker to help count the rotations as your anemometer rotates with the fans. </a:t>
            </a:r>
            <a:endParaRPr/>
          </a:p>
          <a:p>
            <a:pPr indent="0" lvl="0" marL="0" rtl="0" algn="l">
              <a:spcBef>
                <a:spcPts val="1200"/>
              </a:spcBef>
              <a:spcAft>
                <a:spcPts val="0"/>
              </a:spcAft>
              <a:buNone/>
            </a:pPr>
            <a:r>
              <a:rPr lang="en"/>
              <a:t>First, I’m going to measure the circumference of my anemometer. Circumference is the whole distance around a circle.  We’re going to use these measuring tapes to help us. </a:t>
            </a:r>
            <a:endParaRPr/>
          </a:p>
          <a:p>
            <a:pPr indent="0" lvl="0" marL="0" rtl="0" algn="l">
              <a:spcBef>
                <a:spcPts val="1200"/>
              </a:spcBef>
              <a:spcAft>
                <a:spcPts val="0"/>
              </a:spcAft>
              <a:buNone/>
            </a:pPr>
            <a:r>
              <a:rPr lang="en"/>
              <a:t>We are going to practice with mine first.  I’m going to place my anemometer in front of the fan and put the cup with the red dot in front of me and every time it circles by me I’m going to count out loud softly. I’m going to do this for 15 seconds.  We’re going to calculate the wind speed by multiplying my number by 4 because 4 x 15 = 60 seconds (1 minute)</a:t>
            </a:r>
            <a:endParaRPr/>
          </a:p>
          <a:p>
            <a:pPr indent="0" lvl="0" marL="0" rtl="0" algn="l">
              <a:spcBef>
                <a:spcPts val="1200"/>
              </a:spcBef>
              <a:spcAft>
                <a:spcPts val="0"/>
              </a:spcAft>
              <a:buNone/>
            </a:pPr>
            <a:r>
              <a:rPr lang="en"/>
              <a:t>We’re going to take the rotations and divide it by the circumference and you will have your miles per hour.  </a:t>
            </a:r>
            <a:endParaRPr/>
          </a:p>
          <a:p>
            <a:pPr indent="0" lvl="0" marL="0" rtl="0" algn="l">
              <a:spcBef>
                <a:spcPts val="1200"/>
              </a:spcBef>
              <a:spcAft>
                <a:spcPts val="0"/>
              </a:spcAft>
              <a:buNone/>
            </a:pPr>
            <a:r>
              <a:rPr lang="en"/>
              <a:t>Look at you!  You’re combining multiplication and division skills all together!</a:t>
            </a:r>
            <a:endParaRPr/>
          </a:p>
          <a:p>
            <a:pPr indent="0" lvl="0" marL="0" rtl="0" algn="l">
              <a:spcBef>
                <a:spcPts val="1200"/>
              </a:spcBef>
              <a:spcAft>
                <a:spcPts val="1200"/>
              </a:spcAft>
              <a:buNone/>
            </a:pPr>
            <a:r>
              <a:rPr lang="en"/>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It’s your turn!</a:t>
            </a:r>
            <a:endParaRPr/>
          </a:p>
        </p:txBody>
      </p:sp>
      <p:sp>
        <p:nvSpPr>
          <p:cNvPr id="140" name="Google Shape;140;p2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We’ll have to take turns counting rotations.  We are going to </a:t>
            </a:r>
            <a:r>
              <a:rPr lang="en"/>
              <a:t>buddy</a:t>
            </a:r>
            <a:r>
              <a:rPr lang="en"/>
              <a:t> up and help each other count the rotations.  I have 3 fans around the room, I’ll show you which fans to wait by.  Remember, fans have sharp blades so make sure you hold your </a:t>
            </a:r>
            <a:r>
              <a:rPr lang="en"/>
              <a:t>anemometer</a:t>
            </a:r>
            <a:r>
              <a:rPr lang="en"/>
              <a:t> safely away from the fan.  </a:t>
            </a:r>
            <a:endParaRPr/>
          </a:p>
          <a:p>
            <a:pPr indent="0" lvl="0" marL="0" rtl="0" algn="l">
              <a:spcBef>
                <a:spcPts val="1200"/>
              </a:spcBef>
              <a:spcAft>
                <a:spcPts val="0"/>
              </a:spcAft>
              <a:buNone/>
            </a:pPr>
            <a:r>
              <a:rPr lang="en"/>
              <a:t>I have a timer set for 15 seconds, make sure you start counting when I say go!</a:t>
            </a:r>
            <a:endParaRPr/>
          </a:p>
          <a:p>
            <a:pPr indent="0" lvl="0" marL="0" rtl="0" algn="l">
              <a:spcBef>
                <a:spcPts val="1200"/>
              </a:spcBef>
              <a:spcAft>
                <a:spcPts val="0"/>
              </a:spcAft>
              <a:buNone/>
            </a:pPr>
            <a:r>
              <a:rPr lang="en"/>
              <a:t>Everyone will calculate for the low fan speed on the paper below.  When everyone is done, we’ll calculate fo </a:t>
            </a:r>
            <a:r>
              <a:rPr lang="en"/>
              <a:t>the</a:t>
            </a:r>
            <a:r>
              <a:rPr lang="en"/>
              <a:t> high fan speeds!</a:t>
            </a:r>
            <a:endParaRPr/>
          </a:p>
          <a:p>
            <a:pPr indent="0" lvl="0" marL="0" rtl="0" algn="l">
              <a:spcBef>
                <a:spcPts val="1200"/>
              </a:spcBef>
              <a:spcAft>
                <a:spcPts val="0"/>
              </a:spcAft>
              <a:buNone/>
            </a:pPr>
            <a:r>
              <a:rPr lang="en" u="sng">
                <a:solidFill>
                  <a:schemeClr val="hlink"/>
                </a:solidFill>
                <a:hlinkClick r:id="rId3"/>
              </a:rPr>
              <a:t>https://www.timer-tab.com/</a:t>
            </a:r>
            <a:endParaRPr/>
          </a:p>
          <a:p>
            <a:pPr indent="0" lvl="0" marL="0" rtl="0" algn="l">
              <a:spcBef>
                <a:spcPts val="1200"/>
              </a:spcBef>
              <a:spcAft>
                <a:spcPts val="0"/>
              </a:spcAft>
              <a:buNone/>
            </a:pPr>
            <a:r>
              <a:rPr lang="en" u="sng">
                <a:solidFill>
                  <a:schemeClr val="hlink"/>
                </a:solidFill>
                <a:hlinkClick r:id="rId4"/>
              </a:rPr>
              <a:t>https://docs.google.com/document/d/1syuRX6nR6SLZTm2Ih0XnYJGaw3UID25JeV-2kJ0oXuA/edit?usp=sharing</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Day 3 Using Your Anemometer Outside</a:t>
            </a:r>
            <a:endParaRPr/>
          </a:p>
        </p:txBody>
      </p:sp>
      <p:sp>
        <p:nvSpPr>
          <p:cNvPr id="146" name="Google Shape;146;p23"/>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Target:</a:t>
            </a:r>
            <a:endParaRPr/>
          </a:p>
          <a:p>
            <a:pPr indent="0" lvl="0" marL="0" rtl="0" algn="l">
              <a:spcBef>
                <a:spcPts val="1200"/>
              </a:spcBef>
              <a:spcAft>
                <a:spcPts val="0"/>
              </a:spcAft>
              <a:buNone/>
            </a:pPr>
            <a:r>
              <a:rPr lang="en"/>
              <a:t>We will use our anemometer outside today to calculate wind speeds.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I will use my anemometer to calculate wind speeds and record my data. </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Anemometers	</a:t>
            </a:r>
            <a:endParaRPr/>
          </a:p>
        </p:txBody>
      </p:sp>
      <p:sp>
        <p:nvSpPr>
          <p:cNvPr id="152" name="Google Shape;152;p2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Everyone will take their anemometers outside.  Find a spot on the playground where you can hear me, but where the wind isn’t blocked. </a:t>
            </a:r>
            <a:endParaRPr/>
          </a:p>
          <a:p>
            <a:pPr indent="0" lvl="0" marL="0" rtl="0" algn="l">
              <a:spcBef>
                <a:spcPts val="1200"/>
              </a:spcBef>
              <a:spcAft>
                <a:spcPts val="0"/>
              </a:spcAft>
              <a:buNone/>
            </a:pPr>
            <a:r>
              <a:rPr lang="en"/>
              <a:t>I’ll time you for 15 seconds just like we did in the classroom.  We’ll try a </a:t>
            </a:r>
            <a:r>
              <a:rPr lang="en"/>
              <a:t>couple</a:t>
            </a:r>
            <a:r>
              <a:rPr lang="en"/>
              <a:t> of times and just go with the number that popped up the most!</a:t>
            </a:r>
            <a:endParaRPr/>
          </a:p>
          <a:p>
            <a:pPr indent="0" lvl="0" marL="0" rtl="0" algn="l">
              <a:spcBef>
                <a:spcPts val="1200"/>
              </a:spcBef>
              <a:spcAft>
                <a:spcPts val="0"/>
              </a:spcAft>
              <a:buNone/>
            </a:pPr>
            <a:r>
              <a:rPr lang="en"/>
              <a:t>Please take a look at the clouds around too to help make some predictions about what the clouds, wind, and temperature could mean for any upcoming weather reports. </a:t>
            </a:r>
            <a:endParaRPr/>
          </a:p>
          <a:p>
            <a:pPr indent="0" lvl="0" marL="0" rtl="0" algn="l">
              <a:spcBef>
                <a:spcPts val="1200"/>
              </a:spcBef>
              <a:spcAft>
                <a:spcPts val="1200"/>
              </a:spcAft>
              <a:buNone/>
            </a:pPr>
            <a:r>
              <a:rPr lang="en"/>
              <a:t>When we head into class, you’ll need to enter your data into your weather chart.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Weather Tracker</a:t>
            </a:r>
            <a:endParaRPr/>
          </a:p>
        </p:txBody>
      </p:sp>
      <p:sp>
        <p:nvSpPr>
          <p:cNvPr id="158" name="Google Shape;158;p2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Each student will have a copy of the weather tracker down below, we will be creating our own graphs using Google Sheets later on. </a:t>
            </a:r>
            <a:endParaRPr/>
          </a:p>
          <a:p>
            <a:pPr indent="0" lvl="0" marL="0" rtl="0" algn="l">
              <a:spcBef>
                <a:spcPts val="1200"/>
              </a:spcBef>
              <a:spcAft>
                <a:spcPts val="0"/>
              </a:spcAft>
              <a:buNone/>
            </a:pPr>
            <a:r>
              <a:rPr lang="en"/>
              <a:t>On your tracker, write down the wind speed, the temperature, and what you noticed about the clouds. </a:t>
            </a:r>
            <a:endParaRPr/>
          </a:p>
          <a:p>
            <a:pPr indent="0" lvl="0" marL="0" rtl="0" algn="l">
              <a:spcBef>
                <a:spcPts val="1200"/>
              </a:spcBef>
              <a:spcAft>
                <a:spcPts val="1200"/>
              </a:spcAft>
              <a:buNone/>
            </a:pPr>
            <a:r>
              <a:rPr lang="en" u="sng">
                <a:solidFill>
                  <a:schemeClr val="accent5"/>
                </a:solidFill>
                <a:hlinkClick r:id="rId3">
                  <a:extLst>
                    <a:ext uri="{A12FA001-AC4F-418D-AE19-62706E023703}">
                      <ahyp:hlinkClr val="tx"/>
                    </a:ext>
                  </a:extLst>
                </a:hlinkClick>
              </a:rPr>
              <a:t>https://cms-tc.pbskids.org/global/NC-Weather-Tracker.pdf</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Insert your data into Google Sheets</a:t>
            </a:r>
            <a:endParaRPr/>
          </a:p>
        </p:txBody>
      </p:sp>
      <p:sp>
        <p:nvSpPr>
          <p:cNvPr id="164" name="Google Shape;164;p2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Has anyone ever lost their reading log?  Hmmmmm, this sounds familiar. </a:t>
            </a:r>
            <a:endParaRPr/>
          </a:p>
          <a:p>
            <a:pPr indent="0" lvl="0" marL="0" rtl="0" algn="l">
              <a:spcBef>
                <a:spcPts val="1200"/>
              </a:spcBef>
              <a:spcAft>
                <a:spcPts val="0"/>
              </a:spcAft>
              <a:buNone/>
            </a:pPr>
            <a:r>
              <a:rPr lang="en"/>
              <a:t>Well, we’re going to keep your data in Google Sheets so you don’t lose your data!</a:t>
            </a:r>
            <a:endParaRPr/>
          </a:p>
          <a:p>
            <a:pPr indent="0" lvl="0" marL="0" rtl="0" algn="l">
              <a:spcBef>
                <a:spcPts val="1200"/>
              </a:spcBef>
              <a:spcAft>
                <a:spcPts val="0"/>
              </a:spcAft>
              <a:buNone/>
            </a:pPr>
            <a:r>
              <a:rPr lang="en"/>
              <a:t>For 10 days, we will input the wind speed and temperature and cloud observation to see if you can predict what the upcoming weather trends will be based on the data you have collected. </a:t>
            </a:r>
            <a:endParaRPr/>
          </a:p>
          <a:p>
            <a:pPr indent="0" lvl="0" marL="0" rtl="0" algn="l">
              <a:spcBef>
                <a:spcPts val="1200"/>
              </a:spcBef>
              <a:spcAft>
                <a:spcPts val="0"/>
              </a:spcAft>
              <a:buNone/>
            </a:pPr>
            <a:r>
              <a:rPr lang="en"/>
              <a:t>We’ll use mine to help you create your own sheet. </a:t>
            </a:r>
            <a:endParaRPr/>
          </a:p>
          <a:p>
            <a:pPr indent="0" lvl="0" marL="0" rtl="0" algn="l">
              <a:spcBef>
                <a:spcPts val="1200"/>
              </a:spcBef>
              <a:spcAft>
                <a:spcPts val="1200"/>
              </a:spcAft>
              <a:buNone/>
            </a:pPr>
            <a:r>
              <a:rPr lang="en" u="sng">
                <a:solidFill>
                  <a:schemeClr val="hlink"/>
                </a:solidFill>
                <a:hlinkClick r:id="rId3"/>
              </a:rPr>
              <a:t>https://docs.google.com/spreadsheets/d/1g41TXTdCjtsjr4Sl9Nqd1ObBo2qY9doeEYMD2lZ34zY/edit?usp=sharing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Presentations!	</a:t>
            </a:r>
            <a:endParaRPr/>
          </a:p>
        </p:txBody>
      </p:sp>
      <p:sp>
        <p:nvSpPr>
          <p:cNvPr id="170" name="Google Shape;170;p2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Scientists need to share their data!</a:t>
            </a:r>
            <a:endParaRPr/>
          </a:p>
          <a:p>
            <a:pPr indent="0" lvl="0" marL="0" rtl="0" algn="l">
              <a:spcBef>
                <a:spcPts val="1200"/>
              </a:spcBef>
              <a:spcAft>
                <a:spcPts val="0"/>
              </a:spcAft>
              <a:buNone/>
            </a:pPr>
            <a:r>
              <a:rPr lang="en"/>
              <a:t>Now that you have collected information about wind, temperature and clouds, you and a buddy are going to create your own slideshow about what the information you have collected.  </a:t>
            </a:r>
            <a:endParaRPr/>
          </a:p>
          <a:p>
            <a:pPr indent="0" lvl="0" marL="0" rtl="0" algn="l">
              <a:spcBef>
                <a:spcPts val="1200"/>
              </a:spcBef>
              <a:spcAft>
                <a:spcPts val="0"/>
              </a:spcAft>
              <a:buNone/>
            </a:pPr>
            <a:r>
              <a:rPr lang="en"/>
              <a:t>Slides should include:</a:t>
            </a:r>
            <a:endParaRPr/>
          </a:p>
          <a:p>
            <a:pPr indent="0" lvl="0" marL="0" rtl="0" algn="l">
              <a:spcBef>
                <a:spcPts val="1200"/>
              </a:spcBef>
              <a:spcAft>
                <a:spcPts val="0"/>
              </a:spcAft>
              <a:buNone/>
            </a:pPr>
            <a:r>
              <a:rPr lang="en"/>
              <a:t>-Title and name</a:t>
            </a:r>
            <a:endParaRPr/>
          </a:p>
          <a:p>
            <a:pPr indent="0" lvl="0" marL="0" rtl="0" algn="l">
              <a:spcBef>
                <a:spcPts val="1200"/>
              </a:spcBef>
              <a:spcAft>
                <a:spcPts val="0"/>
              </a:spcAft>
              <a:buNone/>
            </a:pPr>
            <a:r>
              <a:rPr lang="en"/>
              <a:t>-Share at least two slides that show how wind is connected to our weather.</a:t>
            </a:r>
            <a:endParaRPr/>
          </a:p>
          <a:p>
            <a:pPr indent="0" lvl="0" marL="0" rtl="0" algn="l">
              <a:spcBef>
                <a:spcPts val="1200"/>
              </a:spcBef>
              <a:spcAft>
                <a:spcPts val="0"/>
              </a:spcAft>
              <a:buNone/>
            </a:pPr>
            <a:r>
              <a:rPr lang="en"/>
              <a:t>-You must create a line or bar graph using Google Sheets to share on your presentation. </a:t>
            </a:r>
            <a:endParaRPr/>
          </a:p>
          <a:p>
            <a:pPr indent="0" lvl="0" marL="0" rtl="0" algn="l">
              <a:spcBef>
                <a:spcPts val="1200"/>
              </a:spcBef>
              <a:spcAft>
                <a:spcPts val="1200"/>
              </a:spcAft>
              <a:buNone/>
            </a:pPr>
            <a:r>
              <a:rPr lang="en"/>
              <a:t>-Any fun facts or vocabulary words you want to share?  Great!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