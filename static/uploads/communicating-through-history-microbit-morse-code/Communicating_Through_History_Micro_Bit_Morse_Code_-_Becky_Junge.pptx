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Proxima Nova"/>
      <p:regular r:id="rId22"/>
      <p:bold r:id="rId23"/>
      <p:italic r:id="rId24"/>
      <p:boldItalic r:id="rId25"/>
    </p:embeddedFont>
    <p:embeddedFont>
      <p:font typeface="Old Standard TT"/>
      <p:regular r:id="rId26"/>
      <p:bold r:id="rId27"/>
      <p: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roximaNova-regular.fntdata"/><Relationship Id="rId21" Type="http://schemas.openxmlformats.org/officeDocument/2006/relationships/slide" Target="slides/slide16.xml"/><Relationship Id="rId24" Type="http://schemas.openxmlformats.org/officeDocument/2006/relationships/font" Target="fonts/ProximaNova-italic.fntdata"/><Relationship Id="rId23" Type="http://schemas.openxmlformats.org/officeDocument/2006/relationships/font" Target="fonts/ProximaNov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ldStandardTT-regular.fntdata"/><Relationship Id="rId25" Type="http://schemas.openxmlformats.org/officeDocument/2006/relationships/font" Target="fonts/ProximaNova-boldItalic.fntdata"/><Relationship Id="rId28" Type="http://schemas.openxmlformats.org/officeDocument/2006/relationships/font" Target="fonts/OldStandardTT-italic.fntdata"/><Relationship Id="rId27" Type="http://schemas.openxmlformats.org/officeDocument/2006/relationships/font" Target="fonts/OldStandardT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3d05b94d7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3d05b94d7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3d05b94d7d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3d05b94d7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3d05b94d7d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3d05b94d7d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3d05b94d7d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3d05b94d7d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3d05b94d7d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3d05b94d7d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3d05b94d7d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3d05b94d7d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d05b94d7d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3d05b94d7d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3d05b94d7d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3d05b94d7d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3d05b94d7d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3d05b94d7d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3d05b94d7d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3d05b94d7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3d05b94d7d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13d05b94d7d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3d05b94d7d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3d05b94d7d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3d05b94d7d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13d05b94d7d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3d05b94d7d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3d05b94d7d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3d05b94d7d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3d05b94d7d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kids.britannica.com/students/article/Pony-Express/274241" TargetMode="External"/><Relationship Id="rId4" Type="http://schemas.openxmlformats.org/officeDocument/2006/relationships/hyperlink" Target="https://kids.britannica.com/students/article/Pony-Express/274241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jpg"/><Relationship Id="rId4" Type="http://schemas.openxmlformats.org/officeDocument/2006/relationships/image" Target="../media/image3.jp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www.youtube.com/watch?v=EaAe2-W4wyU" TargetMode="External"/><Relationship Id="rId4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kids.britannica.com/students/article/Pony-Express/274241" TargetMode="External"/><Relationship Id="rId4" Type="http://schemas.openxmlformats.org/officeDocument/2006/relationships/hyperlink" Target="https://bedtimehistorystories.com/history-of-the-transcontinental-railroad-for-kids/" TargetMode="External"/><Relationship Id="rId5" Type="http://schemas.openxmlformats.org/officeDocument/2006/relationships/hyperlink" Target="https://kids.britannica.com/kids/article/telegraph/353841#:~:text=The%20first%20two%20working%20telegraphs,a%20part%20called%20the%20receiver" TargetMode="External"/><Relationship Id="rId6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makecode.microbit.org" TargetMode="External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Communicating Through History</a:t>
            </a:r>
            <a:endParaRPr sz="3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Micro:Bit Morse Code</a:t>
            </a:r>
            <a:endParaRPr sz="390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53"/>
            <a:ext cx="8118600" cy="10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Developed by: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Becky Junge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4th Grade Teacher, Journey Elementary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WySLICE 2022</a:t>
            </a:r>
            <a:endParaRPr sz="1400"/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2050" y="3094900"/>
            <a:ext cx="3641944" cy="204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1: Historical Context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140225"/>
            <a:ext cx="8520600" cy="613200"/>
          </a:xfrm>
          <a:prstGeom prst="rect">
            <a:avLst/>
          </a:prstGeom>
          <a:solidFill>
            <a:schemeClr val="accent4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Summary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714400"/>
            <a:ext cx="8520600" cy="16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Students will read articles and then construct a timeline of the progression of communication in the developing United States. Then, they will use the Micro:Bits to encode and decode </a:t>
            </a:r>
            <a:r>
              <a:rPr lang="en"/>
              <a:t>messages</a:t>
            </a:r>
            <a:r>
              <a:rPr lang="en"/>
              <a:t> sent in Morse Code via radio output.  </a:t>
            </a:r>
            <a:endParaRPr/>
          </a:p>
        </p:txBody>
      </p:sp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1885950"/>
            <a:ext cx="8520600" cy="613200"/>
          </a:xfrm>
          <a:prstGeom prst="rect">
            <a:avLst/>
          </a:prstGeom>
          <a:solidFill>
            <a:schemeClr val="accent4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Materials Needed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2660400"/>
            <a:ext cx="8520600" cy="22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-Micro:Bits (ideally, one per student)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Chromebook/Computer/iPad (ideally, one per student)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-Access to Computer/Projector for Modeling/Presentations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-Google Slides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-Text Articles: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-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https://kids</a:t>
            </a:r>
            <a:r>
              <a:rPr lang="en" u="sng">
                <a:solidFill>
                  <a:schemeClr val="hlink"/>
                </a:solidFill>
                <a:hlinkClick r:id="rId4"/>
              </a:rPr>
              <a:t>.britannica.com/students/article/Pony-Express/274241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216425"/>
            <a:ext cx="8520600" cy="613200"/>
          </a:xfrm>
          <a:prstGeom prst="rect">
            <a:avLst/>
          </a:prstGeom>
          <a:solidFill>
            <a:schemeClr val="accent4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Skills &amp; Concepts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943075"/>
            <a:ext cx="3999900" cy="39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rPr>
              <a:t>ELA</a:t>
            </a:r>
            <a:endParaRPr b="1" sz="1200">
              <a:solidFill>
                <a:srgbClr val="61616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rPr>
              <a:t>RI.4.1 - Refer to details and examples in a text when explaining what the text says explicitly and when drawing inferences from the text. </a:t>
            </a:r>
            <a:endParaRPr sz="1100">
              <a:solidFill>
                <a:srgbClr val="61616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rPr>
              <a:t>RI.4.3 - Explain events, procedures, ideas, or concepts in a historical, scientific, or technical text, including what happened and why, based on specific information in the text. </a:t>
            </a:r>
            <a:endParaRPr sz="1100">
              <a:solidFill>
                <a:srgbClr val="61616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rPr>
              <a:t>W.4.4 - Produce clear and coherent writing in which the development and organization are appropriate to task, purpose, and audience. </a:t>
            </a:r>
            <a:endParaRPr sz="1100">
              <a:solidFill>
                <a:srgbClr val="61616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61616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rPr>
              <a:t>SOCIAL STUDIES</a:t>
            </a:r>
            <a:endParaRPr b="1" sz="1100">
              <a:solidFill>
                <a:srgbClr val="61616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rPr>
              <a:t>SS5.3.1 - Give examples of needs, wants, goods, services, scarcity, and choice. </a:t>
            </a:r>
            <a:endParaRPr sz="1100">
              <a:solidFill>
                <a:srgbClr val="61616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rPr>
              <a:t>SS5.3.3 - Identify and describe how science and technology have affected production and distribution locally, nationally, and globally (e.g. trains and natural resources)</a:t>
            </a:r>
            <a:endParaRPr sz="1100">
              <a:solidFill>
                <a:srgbClr val="61616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rPr>
              <a:t>SS5.4.1 - Describe how small changes can lead to big changes (cause and effect). </a:t>
            </a:r>
            <a:endParaRPr sz="1100">
              <a:solidFill>
                <a:srgbClr val="61616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rPr>
              <a:t>SS5.4.2 - Describe how tools and technology make life easier; describe how one tool or technology evolves into another; identify a tool or technology that impacted history. </a:t>
            </a:r>
            <a:endParaRPr b="1" sz="1100">
              <a:solidFill>
                <a:srgbClr val="61616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1" name="Google Shape;81;p16"/>
          <p:cNvSpPr txBox="1"/>
          <p:nvPr>
            <p:ph idx="2" type="body"/>
          </p:nvPr>
        </p:nvSpPr>
        <p:spPr>
          <a:xfrm>
            <a:off x="4832400" y="943075"/>
            <a:ext cx="3999900" cy="38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rPr>
              <a:t>COMPUTER SCIENCE</a:t>
            </a:r>
            <a:endParaRPr sz="1150">
              <a:solidFill>
                <a:srgbClr val="61616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rPr>
              <a:t>5.CS.HS.01 - Model how information is translated, transmitted, and processed in order to follow through hardware and software to accomplish tasks.</a:t>
            </a:r>
            <a:endParaRPr sz="1150">
              <a:solidFill>
                <a:srgbClr val="61616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rPr>
              <a:t>5.AP.V.01 - Create programs that use variables to store and modify data.</a:t>
            </a:r>
            <a:endParaRPr sz="1150">
              <a:solidFill>
                <a:srgbClr val="61616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rPr>
              <a:t>5.AP.C.01 - Create programs that include sequences, events, loops, and conditionals, both individually and collaboratively. </a:t>
            </a:r>
            <a:endParaRPr sz="1150">
              <a:solidFill>
                <a:srgbClr val="61616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rPr>
              <a:t>5.AP.M.02 - Modify, remix, or incorporate portions of an existing program into one’s own work, to develop something new or add more advanced features</a:t>
            </a:r>
            <a:endParaRPr sz="1150">
              <a:solidFill>
                <a:srgbClr val="61616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rPr>
              <a:t>5.AP.PD.03 - Test and debug (i.e., identify and fix errors) a program  or algorithm to ensure it runs as intended. </a:t>
            </a:r>
            <a:endParaRPr sz="1150">
              <a:solidFill>
                <a:srgbClr val="61616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rPr>
              <a:t>5.IC.C.01 - Give examples and explain how computing technologies have changed the world and how those technologies influence and are influenced by cultural practices.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140225"/>
            <a:ext cx="8520600" cy="613200"/>
          </a:xfrm>
          <a:prstGeom prst="rect">
            <a:avLst/>
          </a:prstGeom>
          <a:solidFill>
            <a:schemeClr val="accent4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Objectives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8668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Students will be able to…</a:t>
            </a:r>
            <a:endParaRPr sz="24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Construct a timeline of communication technology.</a:t>
            </a:r>
            <a:endParaRPr sz="2000"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" sz="2000"/>
              <a:t>Describe the Pony Express, Transcontinental Railroad and </a:t>
            </a:r>
            <a:r>
              <a:rPr lang="en" sz="2000"/>
              <a:t>telegraph</a:t>
            </a:r>
            <a:r>
              <a:rPr lang="en" sz="2000"/>
              <a:t> role in communication history.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Describe the impact of technology on communication</a:t>
            </a:r>
            <a:endParaRPr sz="2000"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" sz="2000"/>
              <a:t>Argue which communication form is the most effective and why?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Collaborate to encode and decode a message written in Morse Code using the Micro:Bit. 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096107">
            <a:off x="477454" y="824376"/>
            <a:ext cx="4561924" cy="31089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rst transcontinental railroad - Wikipedia" id="93" name="Google Shape;9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947650"/>
            <a:ext cx="4286250" cy="32481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ony Express Rider - TV Tropes" id="94" name="Google Shape;9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125" y="187688"/>
            <a:ext cx="3373673" cy="476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9" title="The First Telegraph Message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5038" y="219025"/>
            <a:ext cx="6273925" cy="470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635125"/>
            <a:ext cx="8520600" cy="364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7400"/>
              <a:t>How are all of these images connected?</a:t>
            </a:r>
            <a:endParaRPr sz="7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225075" y="65480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for Some Schema:</a:t>
            </a:r>
            <a:endParaRPr/>
          </a:p>
        </p:txBody>
      </p:sp>
      <p:sp>
        <p:nvSpPr>
          <p:cNvPr id="110" name="Google Shape;110;p21"/>
          <p:cNvSpPr txBox="1"/>
          <p:nvPr>
            <p:ph idx="2" type="body"/>
          </p:nvPr>
        </p:nvSpPr>
        <p:spPr>
          <a:xfrm>
            <a:off x="4939500" y="262725"/>
            <a:ext cx="3837000" cy="415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Pony Express: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https://kids.britannica.com/students/article/Pony-Express/274241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Transcontinental Railroad: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https://bedtimehistorystories.com/history-of-the-transcontinental-railroad-for-kids/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Telegraph: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https://kids.britannica.com/kids/article/telegraph/353841#:~:text=The%20first%20two%20working%20telegraphs,a%20part%20called%20the%20receiver</a:t>
            </a:r>
            <a:r>
              <a:rPr lang="en"/>
              <a:t>. </a:t>
            </a:r>
            <a:endParaRPr/>
          </a:p>
        </p:txBody>
      </p:sp>
      <p:sp>
        <p:nvSpPr>
          <p:cNvPr id="111" name="Google Shape;111;p21"/>
          <p:cNvSpPr txBox="1"/>
          <p:nvPr>
            <p:ph idx="1" type="subTitle"/>
          </p:nvPr>
        </p:nvSpPr>
        <p:spPr>
          <a:xfrm>
            <a:off x="265500" y="2769000"/>
            <a:ext cx="4045200" cy="21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 each article.  As you are reading, think about important events that happened in the change in communication technologies.  Record them on your graphic organizer. You will be building a </a:t>
            </a:r>
            <a:r>
              <a:rPr lang="en"/>
              <a:t>timeline</a:t>
            </a:r>
            <a:r>
              <a:rPr lang="en"/>
              <a:t> of your events. </a:t>
            </a: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4575" y="1359800"/>
            <a:ext cx="1777596" cy="133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900"/>
              <a:t>Use your notes to create a timeline using 5-8 key facts about the change in communication technology.  Be sure to include a date, if known!</a:t>
            </a:r>
            <a:endParaRPr sz="3200"/>
          </a:p>
        </p:txBody>
      </p:sp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8224" y="3335274"/>
            <a:ext cx="2303201" cy="1727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2: Micro:Bit Morse Code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4"/>
          <p:cNvPicPr preferRelativeResize="0"/>
          <p:nvPr/>
        </p:nvPicPr>
        <p:blipFill rotWithShape="1">
          <a:blip r:embed="rId3">
            <a:alphaModFix/>
          </a:blip>
          <a:srcRect b="2496" l="0" r="1545" t="0"/>
          <a:stretch/>
        </p:blipFill>
        <p:spPr>
          <a:xfrm>
            <a:off x="1850825" y="0"/>
            <a:ext cx="563219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400">
                <a:highlight>
                  <a:schemeClr val="accent3"/>
                </a:highlight>
              </a:rPr>
              <a:t>Challenge:</a:t>
            </a:r>
            <a:r>
              <a:rPr lang="en" sz="4400"/>
              <a:t>  </a:t>
            </a:r>
            <a:endParaRPr sz="4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400"/>
              <a:t>Write a secret word and encode it into Morse Code.  Use the key on your worksheet to help you.  </a:t>
            </a:r>
            <a:endParaRPr sz="4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title"/>
          </p:nvPr>
        </p:nvSpPr>
        <p:spPr>
          <a:xfrm>
            <a:off x="490250" y="526350"/>
            <a:ext cx="797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Program the Micro:Bit!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6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66"/>
              <a:t>Get your computer and go to </a:t>
            </a:r>
            <a:r>
              <a:rPr lang="en" sz="4066" u="sng">
                <a:solidFill>
                  <a:schemeClr val="hlink"/>
                </a:solidFill>
                <a:hlinkClick r:id="rId3"/>
              </a:rPr>
              <a:t>https://makecode.microbit.org</a:t>
            </a:r>
            <a:endParaRPr sz="406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5500" y="3400375"/>
            <a:ext cx="3333750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47500" lnSpcReduction="10000"/>
          </a:bodyPr>
          <a:lstStyle/>
          <a:p>
            <a:pPr indent="-35528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AutoNum type="arabicPeriod"/>
            </a:pPr>
            <a:r>
              <a:rPr lang="en" sz="4200">
                <a:solidFill>
                  <a:schemeClr val="lt2"/>
                </a:solidFill>
              </a:rPr>
              <a:t>Partner A - Send your message to Partner B.  Partner B, record the symbols on your worksheet.</a:t>
            </a:r>
            <a:endParaRPr sz="4200">
              <a:solidFill>
                <a:schemeClr val="lt2"/>
              </a:solidFill>
            </a:endParaRPr>
          </a:p>
          <a:p>
            <a:pPr indent="-35528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AutoNum type="arabicPeriod"/>
            </a:pPr>
            <a:r>
              <a:rPr lang="en" sz="4200">
                <a:solidFill>
                  <a:schemeClr val="lt2"/>
                </a:solidFill>
              </a:rPr>
              <a:t>Switch Roles - Partner B sends the message and Partner A receives and decodes.</a:t>
            </a:r>
            <a:endParaRPr sz="4200">
              <a:solidFill>
                <a:schemeClr val="lt2"/>
              </a:solidFill>
            </a:endParaRPr>
          </a:p>
          <a:p>
            <a:pPr indent="-35528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AutoNum type="arabicPeriod"/>
            </a:pPr>
            <a:r>
              <a:rPr lang="en" sz="4200">
                <a:solidFill>
                  <a:schemeClr val="lt2"/>
                </a:solidFill>
              </a:rPr>
              <a:t>Answer the questions at the bottom of your handout.</a:t>
            </a:r>
            <a:endParaRPr sz="4200">
              <a:solidFill>
                <a:schemeClr val="lt2"/>
              </a:solidFill>
            </a:endParaRPr>
          </a:p>
          <a:p>
            <a:pPr indent="-35528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AutoNum type="arabicPeriod"/>
            </a:pPr>
            <a:r>
              <a:rPr lang="en" sz="4200">
                <a:solidFill>
                  <a:schemeClr val="lt2"/>
                </a:solidFill>
              </a:rPr>
              <a:t>If you have time… try the Challenge!</a:t>
            </a:r>
            <a:endParaRPr sz="4200">
              <a:solidFill>
                <a:schemeClr val="lt2"/>
              </a:solidFill>
            </a:endParaRPr>
          </a:p>
        </p:txBody>
      </p:sp>
      <p:pic>
        <p:nvPicPr>
          <p:cNvPr id="145" name="Google Shape;14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233864" cy="4838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5968" y="2709750"/>
            <a:ext cx="2826749" cy="1883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ctrTitle"/>
          </p:nvPr>
        </p:nvSpPr>
        <p:spPr>
          <a:xfrm>
            <a:off x="512700" y="9785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 Questions</a:t>
            </a:r>
            <a:endParaRPr/>
          </a:p>
        </p:txBody>
      </p:sp>
      <p:sp>
        <p:nvSpPr>
          <p:cNvPr id="152" name="Google Shape;152;p28"/>
          <p:cNvSpPr txBox="1"/>
          <p:nvPr>
            <p:ph idx="1" type="subTitle"/>
          </p:nvPr>
        </p:nvSpPr>
        <p:spPr>
          <a:xfrm>
            <a:off x="512700" y="1891311"/>
            <a:ext cx="8118600" cy="15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-3467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Why did the Pony Express end?</a:t>
            </a:r>
            <a:endParaRPr/>
          </a:p>
          <a:p>
            <a:pPr indent="-3467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How did the Railroad change </a:t>
            </a:r>
            <a:r>
              <a:rPr lang="en"/>
              <a:t>communication</a:t>
            </a:r>
            <a:r>
              <a:rPr lang="en"/>
              <a:t>?</a:t>
            </a:r>
            <a:endParaRPr/>
          </a:p>
          <a:p>
            <a:pPr indent="-3467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How did the telegraph change communication?</a:t>
            </a:r>
            <a:endParaRPr/>
          </a:p>
          <a:p>
            <a:pPr indent="-3467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How does the telegraph relate to how we communicate today?</a:t>
            </a:r>
            <a:endParaRPr/>
          </a:p>
          <a:p>
            <a:pPr indent="-3467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Which historical form of communication do you think is best?  Why?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