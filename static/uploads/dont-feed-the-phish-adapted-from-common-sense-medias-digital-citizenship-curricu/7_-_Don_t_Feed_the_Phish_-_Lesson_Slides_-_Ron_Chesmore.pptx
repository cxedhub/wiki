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5"/>
    <p:sldMasterId id="2147483667" r:id="rId6"/>
    <p:sldMasterId id="2147483668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y="5143500" cx="9144000"/>
  <p:notesSz cx="6858000" cy="9144000"/>
  <p:embeddedFontLst>
    <p:embeddedFont>
      <p:font typeface="Rubik Medium"/>
      <p:regular r:id="rId24"/>
      <p:bold r:id="rId25"/>
      <p:italic r:id="rId26"/>
      <p:boldItalic r:id="rId27"/>
    </p:embeddedFont>
    <p:embeddedFont>
      <p:font typeface="Rubik Light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  <p:embeddedFont>
      <p:font typeface="Gloria Hallelujah"/>
      <p:regular r:id="rId36"/>
    </p:embeddedFont>
    <p:embeddedFont>
      <p:font typeface="Indie Flower"/>
      <p:regular r:id="rId37"/>
    </p:embeddedFont>
    <p:embeddedFont>
      <p:font typeface="Rubik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692AD0-319E-43A6-AE00-A819099EB9DD}">
  <a:tblStyle styleId="{E8692AD0-319E-43A6-AE00-A819099EB9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ubik-italic.fntdata"/><Relationship Id="rId20" Type="http://schemas.openxmlformats.org/officeDocument/2006/relationships/slide" Target="slides/slide12.xml"/><Relationship Id="rId41" Type="http://schemas.openxmlformats.org/officeDocument/2006/relationships/font" Target="fonts/Rubik-boldItalic.fntdata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font" Target="fonts/RubikMedium-regular.fntdata"/><Relationship Id="rId23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RubikMedium-italic.fntdata"/><Relationship Id="rId25" Type="http://schemas.openxmlformats.org/officeDocument/2006/relationships/font" Target="fonts/RubikMedium-bold.fntdata"/><Relationship Id="rId28" Type="http://schemas.openxmlformats.org/officeDocument/2006/relationships/font" Target="fonts/RubikLight-regular.fntdata"/><Relationship Id="rId27" Type="http://schemas.openxmlformats.org/officeDocument/2006/relationships/font" Target="fonts/RubikMedium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ubikLight-bold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RubikLight-boldItalic.fntdata"/><Relationship Id="rId30" Type="http://schemas.openxmlformats.org/officeDocument/2006/relationships/font" Target="fonts/RubikLight-italic.fntdata"/><Relationship Id="rId11" Type="http://schemas.openxmlformats.org/officeDocument/2006/relationships/slide" Target="slides/slide3.xml"/><Relationship Id="rId33" Type="http://schemas.openxmlformats.org/officeDocument/2006/relationships/font" Target="fonts/Lato-bold.fntdata"/><Relationship Id="rId10" Type="http://schemas.openxmlformats.org/officeDocument/2006/relationships/slide" Target="slides/slide2.xml"/><Relationship Id="rId32" Type="http://schemas.openxmlformats.org/officeDocument/2006/relationships/font" Target="fonts/Lato-regular.fntdata"/><Relationship Id="rId13" Type="http://schemas.openxmlformats.org/officeDocument/2006/relationships/slide" Target="slides/slide5.xml"/><Relationship Id="rId35" Type="http://schemas.openxmlformats.org/officeDocument/2006/relationships/font" Target="fonts/Lato-boldItalic.fntdata"/><Relationship Id="rId12" Type="http://schemas.openxmlformats.org/officeDocument/2006/relationships/slide" Target="slides/slide4.xml"/><Relationship Id="rId34" Type="http://schemas.openxmlformats.org/officeDocument/2006/relationships/font" Target="fonts/Lato-italic.fntdata"/><Relationship Id="rId15" Type="http://schemas.openxmlformats.org/officeDocument/2006/relationships/slide" Target="slides/slide7.xml"/><Relationship Id="rId37" Type="http://schemas.openxmlformats.org/officeDocument/2006/relationships/font" Target="fonts/IndieFlower-regular.fntdata"/><Relationship Id="rId14" Type="http://schemas.openxmlformats.org/officeDocument/2006/relationships/slide" Target="slides/slide6.xml"/><Relationship Id="rId36" Type="http://schemas.openxmlformats.org/officeDocument/2006/relationships/font" Target="fonts/GloriaHallelujah-regular.fntdata"/><Relationship Id="rId17" Type="http://schemas.openxmlformats.org/officeDocument/2006/relationships/slide" Target="slides/slide9.xml"/><Relationship Id="rId39" Type="http://schemas.openxmlformats.org/officeDocument/2006/relationships/font" Target="fonts/Rubik-bold.fntdata"/><Relationship Id="rId16" Type="http://schemas.openxmlformats.org/officeDocument/2006/relationships/slide" Target="slides/slide8.xml"/><Relationship Id="rId38" Type="http://schemas.openxmlformats.org/officeDocument/2006/relationships/font" Target="fonts/Rubik-regular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4d3e07406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4d3e07406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61e5efd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61e5efd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037fe8d8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037fe8d8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4386b56f7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4386b56f7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2eeee87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42eeee87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4386b56f7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4386b56f7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2e223c84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42e223c84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&lt;one photo opposite rows 3-4, e.g. 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Shutterstock image of </a:t>
            </a:r>
            <a:r>
              <a:rPr b="1" lang="en">
                <a:solidFill>
                  <a:srgbClr val="454545"/>
                </a:solidFill>
                <a:latin typeface="Lato"/>
                <a:ea typeface="Lato"/>
                <a:cs typeface="Lato"/>
                <a:sym typeface="Lato"/>
              </a:rPr>
              <a:t>stealing a credit card through a laptop: </a:t>
            </a:r>
            <a:r>
              <a:rPr lang="en">
                <a:solidFill>
                  <a:srgbClr val="454545"/>
                </a:solidFill>
                <a:latin typeface="Lato"/>
                <a:ea typeface="Lato"/>
                <a:cs typeface="Lato"/>
                <a:sym typeface="Lato"/>
              </a:rPr>
              <a:t>ID: 293166725&gt;</a:t>
            </a:r>
            <a:endParaRPr b="1">
              <a:solidFill>
                <a:srgbClr val="4545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037fe8d8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037fe8d8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4213774d3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4213774d3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addb24ed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addb24ed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226f66fd5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4226f66fd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4213774d3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4213774d3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42f1cd71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42f1cd71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227992f2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227992f2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42cef1eb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42cef1eb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sential Question">
  <p:cSld name="CUSTOM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0" y="123140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/>
        </p:nvSpPr>
        <p:spPr>
          <a:xfrm>
            <a:off x="-10950" y="2081350"/>
            <a:ext cx="9165900" cy="1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8855"/>
              </a:buClr>
              <a:buSzPts val="1600"/>
              <a:buFont typeface="Lato"/>
              <a:buNone/>
            </a:pPr>
            <a:r>
              <a:t/>
            </a:r>
            <a:endParaRPr sz="2400">
              <a:latin typeface="Indie Flower"/>
              <a:ea typeface="Indie Flower"/>
              <a:cs typeface="Indie Flower"/>
              <a:sym typeface="Indie Flower"/>
            </a:endParaRPr>
          </a:p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0" y="2223050"/>
            <a:ext cx="91440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●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1pPr>
            <a:lvl2pPr indent="-381000" lvl="1" marL="91440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○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2pPr>
            <a:lvl3pPr indent="-381000" lvl="2" marL="137160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■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3pPr>
            <a:lvl4pPr indent="-381000" lvl="3" marL="182880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●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4pPr>
            <a:lvl5pPr indent="-381000" lvl="4" marL="228600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○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5pPr>
            <a:lvl6pPr indent="-381000" lvl="5" marL="274320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■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6pPr>
            <a:lvl7pPr indent="-381000" lvl="6" marL="320040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●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7pPr>
            <a:lvl8pPr indent="-381000" lvl="7" marL="365760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○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8pPr>
            <a:lvl9pPr indent="-381000" lvl="8" marL="411480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■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">
  <p:cSld name="CUSTOM_1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0" y="44495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2213400" y="1313600"/>
            <a:ext cx="6353100" cy="30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Vocabulary">
  <p:cSld name="CUSTOM_1_1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/>
        </p:nvSpPr>
        <p:spPr>
          <a:xfrm>
            <a:off x="887850" y="1020500"/>
            <a:ext cx="17358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" name="Google Shape;20;p5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type="title"/>
          </p:nvPr>
        </p:nvSpPr>
        <p:spPr>
          <a:xfrm>
            <a:off x="915375" y="1035250"/>
            <a:ext cx="71703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893575" y="2190350"/>
            <a:ext cx="73446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  <a:defRPr sz="2400">
                <a:latin typeface="Lato"/>
                <a:ea typeface="Lato"/>
                <a:cs typeface="Lato"/>
                <a:sym typeface="Lat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  <a:defRPr sz="2400">
                <a:latin typeface="Lato"/>
                <a:ea typeface="Lato"/>
                <a:cs typeface="Lato"/>
                <a:sym typeface="Lat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■"/>
              <a:defRPr sz="2400">
                <a:latin typeface="Lato"/>
                <a:ea typeface="Lato"/>
                <a:cs typeface="Lato"/>
                <a:sym typeface="Lat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  <a:defRPr sz="2400">
                <a:latin typeface="Lato"/>
                <a:ea typeface="Lato"/>
                <a:cs typeface="Lato"/>
                <a:sym typeface="Lat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  <a:defRPr sz="2400">
                <a:latin typeface="Lato"/>
                <a:ea typeface="Lato"/>
                <a:cs typeface="Lato"/>
                <a:sym typeface="Lat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■"/>
              <a:defRPr sz="2400">
                <a:latin typeface="Lato"/>
                <a:ea typeface="Lato"/>
                <a:cs typeface="Lato"/>
                <a:sym typeface="Lat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  <a:defRPr sz="2400">
                <a:latin typeface="Lato"/>
                <a:ea typeface="Lato"/>
                <a:cs typeface="Lato"/>
                <a:sym typeface="Lat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  <a:defRPr sz="2400">
                <a:latin typeface="Lato"/>
                <a:ea typeface="Lato"/>
                <a:cs typeface="Lato"/>
                <a:sym typeface="Lat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■"/>
              <a:defRPr sz="2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+ Directions">
  <p:cSld name="CUSTOM_2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type="title"/>
          </p:nvPr>
        </p:nvSpPr>
        <p:spPr>
          <a:xfrm>
            <a:off x="577550" y="1002550"/>
            <a:ext cx="8577300" cy="12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566750" y="2648025"/>
            <a:ext cx="8577300" cy="17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rections Only">
  <p:cSld name="CUSTOM_3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2" type="body"/>
          </p:nvPr>
        </p:nvSpPr>
        <p:spPr>
          <a:xfrm>
            <a:off x="1138200" y="1770800"/>
            <a:ext cx="6867600" cy="17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type="title"/>
          </p:nvPr>
        </p:nvSpPr>
        <p:spPr>
          <a:xfrm>
            <a:off x="0" y="74975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">
  <p:cSld name="CUSTOM_4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p8"/>
          <p:cNvCxnSpPr/>
          <p:nvPr/>
        </p:nvCxnSpPr>
        <p:spPr>
          <a:xfrm>
            <a:off x="3166753" y="1960850"/>
            <a:ext cx="0" cy="22449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" name="Google Shape;33;p8"/>
          <p:cNvCxnSpPr/>
          <p:nvPr/>
        </p:nvCxnSpPr>
        <p:spPr>
          <a:xfrm>
            <a:off x="5977234" y="1960850"/>
            <a:ext cx="0" cy="22449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" name="Google Shape;34;p8"/>
          <p:cNvSpPr txBox="1"/>
          <p:nvPr>
            <p:ph type="title"/>
          </p:nvPr>
        </p:nvSpPr>
        <p:spPr>
          <a:xfrm>
            <a:off x="0" y="26705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611613" y="1960850"/>
            <a:ext cx="2299800" cy="23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3422094" y="1960850"/>
            <a:ext cx="2299800" cy="23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3" type="body"/>
          </p:nvPr>
        </p:nvSpPr>
        <p:spPr>
          <a:xfrm>
            <a:off x="6232575" y="1960850"/>
            <a:ext cx="2299800" cy="23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4" type="subTitle"/>
          </p:nvPr>
        </p:nvSpPr>
        <p:spPr>
          <a:xfrm>
            <a:off x="611625" y="1234075"/>
            <a:ext cx="22998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>
                <a:latin typeface="Rubik Medium"/>
                <a:ea typeface="Rubik Medium"/>
                <a:cs typeface="Rubik Medium"/>
                <a:sym typeface="Rubi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5" type="subTitle"/>
          </p:nvPr>
        </p:nvSpPr>
        <p:spPr>
          <a:xfrm>
            <a:off x="3422100" y="1234075"/>
            <a:ext cx="22998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400"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6" type="subTitle"/>
          </p:nvPr>
        </p:nvSpPr>
        <p:spPr>
          <a:xfrm>
            <a:off x="6232575" y="1234075"/>
            <a:ext cx="22998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400"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 Only">
  <p:cSld name="CUSTOM_5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0" y="51985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6" name="Google Shape;46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sential Question">
  <p:cSld name="CUSTOM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0" y="123140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3"/>
          <p:cNvSpPr txBox="1"/>
          <p:nvPr/>
        </p:nvSpPr>
        <p:spPr>
          <a:xfrm>
            <a:off x="-10950" y="2081350"/>
            <a:ext cx="9165900" cy="1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8855"/>
              </a:buClr>
              <a:buSzPts val="1600"/>
              <a:buFont typeface="Lato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Indie Flower"/>
              <a:ea typeface="Indie Flower"/>
              <a:cs typeface="Indie Flower"/>
              <a:sym typeface="Indie Flower"/>
            </a:endParaRPr>
          </a:p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0" y="2223050"/>
            <a:ext cx="91440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●"/>
              <a:defRPr b="1" i="0" sz="2400" u="none" cap="none" strike="noStrike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1pPr>
            <a:lvl2pPr indent="-3810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○"/>
              <a:defRPr b="1" i="0" sz="2400" u="none" cap="none" strike="noStrike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2pPr>
            <a:lvl3pPr indent="-3810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■"/>
              <a:defRPr b="1" i="0" sz="2400" u="none" cap="none" strike="noStrike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3pPr>
            <a:lvl4pPr indent="-3810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●"/>
              <a:defRPr b="1" i="0" sz="2400" u="none" cap="none" strike="noStrike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4pPr>
            <a:lvl5pPr indent="-3810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○"/>
              <a:defRPr b="1" i="0" sz="2400" u="none" cap="none" strike="noStrike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5pPr>
            <a:lvl6pPr indent="-3810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■"/>
              <a:defRPr b="1" i="0" sz="2400" u="none" cap="none" strike="noStrike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6pPr>
            <a:lvl7pPr indent="-3810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●"/>
              <a:defRPr b="1" i="0" sz="2400" u="none" cap="none" strike="noStrike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7pPr>
            <a:lvl8pPr indent="-3810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○"/>
              <a:defRPr b="1" i="0" sz="2400" u="none" cap="none" strike="noStrike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8pPr>
            <a:lvl9pPr indent="-3810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■"/>
              <a:defRPr b="1" i="0" sz="2400" u="none" cap="none" strike="noStrike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">
  <p:cSld name="CUSTOM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0" y="44495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2213400" y="1313600"/>
            <a:ext cx="6353100" cy="30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○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■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○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■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○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■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Vocabulary">
  <p:cSld name="CUSTOM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887850" y="1020500"/>
            <a:ext cx="17358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915375" y="1035250"/>
            <a:ext cx="71703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0" i="0" sz="4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2" type="body"/>
          </p:nvPr>
        </p:nvSpPr>
        <p:spPr>
          <a:xfrm>
            <a:off x="893575" y="2190350"/>
            <a:ext cx="73446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Lato"/>
              <a:buChar char="●"/>
              <a:defRPr b="0" i="0" sz="2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Lato"/>
              <a:buChar char="○"/>
              <a:defRPr b="0" i="0" sz="2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Lato"/>
              <a:buChar char="■"/>
              <a:defRPr b="0" i="0" sz="2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Lato"/>
              <a:buChar char="●"/>
              <a:defRPr b="0" i="0" sz="2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Lato"/>
              <a:buChar char="○"/>
              <a:defRPr b="0" i="0" sz="2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Lato"/>
              <a:buChar char="■"/>
              <a:defRPr b="0" i="0" sz="2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Lato"/>
              <a:buChar char="●"/>
              <a:defRPr b="0" i="0" sz="2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Lato"/>
              <a:buChar char="○"/>
              <a:defRPr b="0" i="0" sz="2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Lato"/>
              <a:buChar char="■"/>
              <a:defRPr b="0" i="0" sz="2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+ Directions">
  <p:cSld name="CUSTOM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577550" y="1002550"/>
            <a:ext cx="8577300" cy="12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2" type="body"/>
          </p:nvPr>
        </p:nvSpPr>
        <p:spPr>
          <a:xfrm>
            <a:off x="566750" y="2648025"/>
            <a:ext cx="8577300" cy="17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○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■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○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■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○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■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rections Only">
  <p:cSld name="CUSTOM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72" name="Google Shape;72;p17"/>
          <p:cNvSpPr txBox="1"/>
          <p:nvPr>
            <p:ph idx="2" type="body"/>
          </p:nvPr>
        </p:nvSpPr>
        <p:spPr>
          <a:xfrm>
            <a:off x="1138200" y="1770800"/>
            <a:ext cx="6867600" cy="17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○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■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○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■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○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■"/>
              <a:defRPr b="0" i="0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0" y="74975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">
  <p:cSld name="CUSTOM_4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8"/>
          <p:cNvCxnSpPr/>
          <p:nvPr/>
        </p:nvCxnSpPr>
        <p:spPr>
          <a:xfrm>
            <a:off x="3166753" y="1960850"/>
            <a:ext cx="0" cy="22449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8"/>
          <p:cNvCxnSpPr/>
          <p:nvPr/>
        </p:nvCxnSpPr>
        <p:spPr>
          <a:xfrm>
            <a:off x="5977234" y="1960850"/>
            <a:ext cx="0" cy="22449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8"/>
          <p:cNvSpPr txBox="1"/>
          <p:nvPr>
            <p:ph type="title"/>
          </p:nvPr>
        </p:nvSpPr>
        <p:spPr>
          <a:xfrm>
            <a:off x="0" y="26705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611613" y="1960850"/>
            <a:ext cx="2299800" cy="23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  <a:defRPr b="0" i="0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2" type="body"/>
          </p:nvPr>
        </p:nvSpPr>
        <p:spPr>
          <a:xfrm>
            <a:off x="3422094" y="1960850"/>
            <a:ext cx="2299800" cy="23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  <a:defRPr b="0" i="0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3" type="body"/>
          </p:nvPr>
        </p:nvSpPr>
        <p:spPr>
          <a:xfrm>
            <a:off x="6232575" y="1960850"/>
            <a:ext cx="2299800" cy="23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  <a:defRPr b="0" i="0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8"/>
          <p:cNvSpPr txBox="1"/>
          <p:nvPr>
            <p:ph idx="4" type="subTitle"/>
          </p:nvPr>
        </p:nvSpPr>
        <p:spPr>
          <a:xfrm>
            <a:off x="611625" y="1234075"/>
            <a:ext cx="22998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  <a:defRPr b="0" i="0" sz="3400" u="none" cap="none" strike="noStrik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8"/>
          <p:cNvSpPr txBox="1"/>
          <p:nvPr>
            <p:ph idx="5" type="subTitle"/>
          </p:nvPr>
        </p:nvSpPr>
        <p:spPr>
          <a:xfrm>
            <a:off x="3422100" y="1234075"/>
            <a:ext cx="22998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  <a:defRPr b="0" i="0" sz="3400" u="none" cap="none" strike="noStrik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6" type="subTitle"/>
          </p:nvPr>
        </p:nvSpPr>
        <p:spPr>
          <a:xfrm>
            <a:off x="6232575" y="1234075"/>
            <a:ext cx="22998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  <a:defRPr b="0" i="0" sz="3400" u="none" cap="none" strike="noStrike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 Only">
  <p:cSld name="CUSTOM_5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0" y="51985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8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476875" y="4767625"/>
            <a:ext cx="2532437" cy="24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/>
        </p:nvSpPr>
        <p:spPr>
          <a:xfrm>
            <a:off x="622525" y="4720200"/>
            <a:ext cx="5026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rPr>
              <a:t>commonsense.org/education</a:t>
            </a:r>
            <a:r>
              <a:rPr lang="en" sz="8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600">
              <a:solidFill>
                <a:srgbClr val="99999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99999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Shareable with attribution for noncommercial use. Remixing is permitted.</a:t>
            </a:r>
            <a:endParaRPr sz="600">
              <a:solidFill>
                <a:srgbClr val="99999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">
            <a:alphaModFix/>
          </a:blip>
          <a:srcRect b="0" l="357" r="357" t="0"/>
          <a:stretch/>
        </p:blipFill>
        <p:spPr>
          <a:xfrm>
            <a:off x="134575" y="4835977"/>
            <a:ext cx="487950" cy="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/>
          <p:nvPr/>
        </p:nvSpPr>
        <p:spPr>
          <a:xfrm>
            <a:off x="0" y="4656675"/>
            <a:ext cx="9144000" cy="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476875" y="4767625"/>
            <a:ext cx="2532437" cy="24027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/>
        </p:nvSpPr>
        <p:spPr>
          <a:xfrm>
            <a:off x="622525" y="4720200"/>
            <a:ext cx="5026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rPr>
              <a:t>commonsense.org/education</a:t>
            </a:r>
            <a:r>
              <a:rPr b="0" i="0" lang="en" sz="800" u="none" cap="none" strike="noStrike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600" u="none" cap="none" strike="noStrike">
              <a:solidFill>
                <a:srgbClr val="99999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99999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Shareable with attribution for noncommercial use. Remixing is permitted.</a:t>
            </a:r>
            <a:endParaRPr b="0" i="0" sz="600" u="none" cap="none" strike="noStrike">
              <a:solidFill>
                <a:srgbClr val="99999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1" name="Google Shape;51;p11"/>
          <p:cNvPicPr preferRelativeResize="0"/>
          <p:nvPr/>
        </p:nvPicPr>
        <p:blipFill rotWithShape="1">
          <a:blip r:embed="rId2">
            <a:alphaModFix/>
          </a:blip>
          <a:srcRect b="0" l="357" r="357" t="0"/>
          <a:stretch/>
        </p:blipFill>
        <p:spPr>
          <a:xfrm>
            <a:off x="134575" y="4835977"/>
            <a:ext cx="487950" cy="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/>
          <p:nvPr/>
        </p:nvSpPr>
        <p:spPr>
          <a:xfrm>
            <a:off x="0" y="4656675"/>
            <a:ext cx="9144000" cy="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476875" y="4767625"/>
            <a:ext cx="2532437" cy="2402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0"/>
          <p:cNvSpPr txBox="1"/>
          <p:nvPr/>
        </p:nvSpPr>
        <p:spPr>
          <a:xfrm>
            <a:off x="622525" y="4720200"/>
            <a:ext cx="5026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rPr>
              <a:t>commonsense.org/education</a:t>
            </a:r>
            <a:r>
              <a:rPr lang="en" sz="8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600">
              <a:solidFill>
                <a:srgbClr val="99999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99999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Shareable with attribution for noncommercial use. Remixing is permitted.</a:t>
            </a:r>
            <a:endParaRPr sz="600">
              <a:solidFill>
                <a:srgbClr val="99999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0" name="Google Shape;90;p20"/>
          <p:cNvPicPr preferRelativeResize="0"/>
          <p:nvPr/>
        </p:nvPicPr>
        <p:blipFill rotWithShape="1">
          <a:blip r:embed="rId2">
            <a:alphaModFix/>
          </a:blip>
          <a:srcRect b="0" l="357" r="357" t="0"/>
          <a:stretch/>
        </p:blipFill>
        <p:spPr>
          <a:xfrm>
            <a:off x="134575" y="4835977"/>
            <a:ext cx="487950" cy="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0"/>
          <p:cNvSpPr/>
          <p:nvPr/>
        </p:nvSpPr>
        <p:spPr>
          <a:xfrm>
            <a:off x="0" y="4656675"/>
            <a:ext cx="9144000" cy="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5.jpg"/><Relationship Id="rId5" Type="http://schemas.openxmlformats.org/officeDocument/2006/relationships/image" Target="../media/image4.jpg"/><Relationship Id="rId6" Type="http://schemas.openxmlformats.org/officeDocument/2006/relationships/image" Target="../media/image2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image" Target="../media/image2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6.jpg"/><Relationship Id="rId5" Type="http://schemas.openxmlformats.org/officeDocument/2006/relationships/image" Target="../media/image19.jpg"/><Relationship Id="rId6" Type="http://schemas.openxmlformats.org/officeDocument/2006/relationships/image" Target="../media/image22.jpg"/><Relationship Id="rId7" Type="http://schemas.openxmlformats.org/officeDocument/2006/relationships/image" Target="../media/image2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/>
          <p:nvPr/>
        </p:nvSpPr>
        <p:spPr>
          <a:xfrm>
            <a:off x="-150" y="-3075"/>
            <a:ext cx="3631200" cy="516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2"/>
          <p:cNvSpPr txBox="1"/>
          <p:nvPr/>
        </p:nvSpPr>
        <p:spPr>
          <a:xfrm>
            <a:off x="193350" y="1741900"/>
            <a:ext cx="3227100" cy="25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Rubik"/>
                <a:ea typeface="Rubik"/>
                <a:cs typeface="Rubik"/>
                <a:sym typeface="Rubik"/>
              </a:rPr>
              <a:t>Don't Feed the Phish</a:t>
            </a:r>
            <a:endParaRPr sz="3600">
              <a:latin typeface="Rubik Light"/>
              <a:ea typeface="Rubik Light"/>
              <a:cs typeface="Rubik Light"/>
              <a:sym typeface="Rubik Light"/>
            </a:endParaRPr>
          </a:p>
        </p:txBody>
      </p:sp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275" y="4563276"/>
            <a:ext cx="3064000" cy="2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2"/>
          <p:cNvSpPr/>
          <p:nvPr/>
        </p:nvSpPr>
        <p:spPr>
          <a:xfrm flipH="1" rot="10800000">
            <a:off x="280125" y="4329642"/>
            <a:ext cx="3063300" cy="34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2"/>
          <p:cNvSpPr txBox="1"/>
          <p:nvPr/>
        </p:nvSpPr>
        <p:spPr>
          <a:xfrm>
            <a:off x="193350" y="1423068"/>
            <a:ext cx="29214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  <a:latin typeface="Rubik"/>
                <a:ea typeface="Rubik"/>
                <a:cs typeface="Rubik"/>
                <a:sym typeface="Rubik"/>
              </a:rPr>
              <a:t>DIGITAL CITIZENSHIP | GRADE 6</a:t>
            </a:r>
            <a:endParaRPr sz="1200">
              <a:solidFill>
                <a:srgbClr val="999999"/>
              </a:solidFill>
            </a:endParaRPr>
          </a:p>
        </p:txBody>
      </p:sp>
      <p:pic>
        <p:nvPicPr>
          <p:cNvPr id="102" name="Google Shape;10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850" y="0"/>
            <a:ext cx="3642899" cy="91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1850" y="0"/>
            <a:ext cx="3642899" cy="910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2"/>
          <p:cNvPicPr preferRelativeResize="0"/>
          <p:nvPr/>
        </p:nvPicPr>
        <p:blipFill rotWithShape="1">
          <a:blip r:embed="rId6">
            <a:alphaModFix/>
          </a:blip>
          <a:srcRect b="18126" l="26430" r="15236" t="0"/>
          <a:stretch/>
        </p:blipFill>
        <p:spPr>
          <a:xfrm>
            <a:off x="3631049" y="0"/>
            <a:ext cx="5512950" cy="5158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type="title"/>
          </p:nvPr>
        </p:nvSpPr>
        <p:spPr>
          <a:xfrm>
            <a:off x="0" y="1231400"/>
            <a:ext cx="9144000" cy="6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6900"/>
              </a:buClr>
              <a:buSzPts val="2000"/>
              <a:buFont typeface="Lato"/>
              <a:buNone/>
            </a:pPr>
            <a:r>
              <a:rPr lang="en">
                <a:solidFill>
                  <a:schemeClr val="dk1"/>
                </a:solidFill>
              </a:rPr>
              <a:t>Essential Question</a:t>
            </a:r>
            <a:endParaRPr/>
          </a:p>
        </p:txBody>
      </p:sp>
      <p:pic>
        <p:nvPicPr>
          <p:cNvPr id="110" name="Google Shape;11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2513" y="2004634"/>
            <a:ext cx="319200" cy="4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5655938" y="2783272"/>
            <a:ext cx="319200" cy="4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2254788" y="2146825"/>
            <a:ext cx="47667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8855"/>
              </a:buClr>
              <a:buSzPts val="1600"/>
              <a:buFont typeface="Lato"/>
              <a:buNone/>
            </a:pPr>
            <a:r>
              <a:rPr b="0" lang="en">
                <a:solidFill>
                  <a:srgbClr val="00857D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How can you protect yourself from phishing?</a:t>
            </a:r>
            <a:endParaRPr b="0">
              <a:solidFill>
                <a:srgbClr val="00857D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2213400" y="1557000"/>
            <a:ext cx="6353100" cy="27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9910"/>
              </a:buClr>
              <a:buSzPts val="1920"/>
              <a:buFont typeface="Lato"/>
              <a:buNone/>
            </a:pPr>
            <a:r>
              <a:rPr lang="en">
                <a:solidFill>
                  <a:schemeClr val="dk1"/>
                </a:solidFill>
              </a:rPr>
              <a:t>Compare and contrast identity theft with other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kinds of theft.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49910"/>
              </a:buClr>
              <a:buSzPts val="1920"/>
              <a:buFont typeface="Lato"/>
              <a:buNone/>
            </a:pPr>
            <a:r>
              <a:rPr lang="en">
                <a:solidFill>
                  <a:schemeClr val="dk1"/>
                </a:solidFill>
              </a:rPr>
              <a:t>Describe different ways that identity theft can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occur online.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rgbClr val="249910"/>
              </a:buClr>
              <a:buSzPts val="1920"/>
              <a:buFont typeface="Lato"/>
              <a:buNone/>
            </a:pPr>
            <a:r>
              <a:rPr lang="en">
                <a:solidFill>
                  <a:schemeClr val="dk1"/>
                </a:solidFill>
              </a:rPr>
              <a:t>Use message clues to identify examples of phishing.</a:t>
            </a:r>
            <a:endParaRPr/>
          </a:p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0" y="444950"/>
            <a:ext cx="9144000" cy="6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Learning Objectives</a:t>
            </a:r>
            <a:endParaRPr/>
          </a:p>
        </p:txBody>
      </p:sp>
      <p:pic>
        <p:nvPicPr>
          <p:cNvPr id="119" name="Google Shape;1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113" y="2092861"/>
            <a:ext cx="473007" cy="47300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/>
          <p:nvPr/>
        </p:nvSpPr>
        <p:spPr>
          <a:xfrm>
            <a:off x="1376875" y="1471550"/>
            <a:ext cx="605400" cy="621300"/>
          </a:xfrm>
          <a:prstGeom prst="ellipse">
            <a:avLst/>
          </a:prstGeom>
          <a:solidFill>
            <a:srgbClr val="0085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Lato"/>
              <a:buNone/>
            </a:pPr>
            <a:r>
              <a:rPr b="1" lang="en" sz="3000">
                <a:solidFill>
                  <a:srgbClr val="FFFFFF"/>
                </a:solidFill>
                <a:latin typeface="Indie Flower"/>
                <a:ea typeface="Indie Flower"/>
                <a:cs typeface="Indie Flower"/>
                <a:sym typeface="Indie Flower"/>
              </a:rPr>
              <a:t>l</a:t>
            </a:r>
            <a:endParaRPr sz="3000">
              <a:latin typeface="Indie Flower"/>
              <a:ea typeface="Indie Flower"/>
              <a:cs typeface="Indie Flower"/>
              <a:sym typeface="Indie Flower"/>
            </a:endParaRPr>
          </a:p>
        </p:txBody>
      </p:sp>
      <p:sp>
        <p:nvSpPr>
          <p:cNvPr id="121" name="Google Shape;121;p24"/>
          <p:cNvSpPr/>
          <p:nvPr/>
        </p:nvSpPr>
        <p:spPr>
          <a:xfrm>
            <a:off x="1376875" y="2565899"/>
            <a:ext cx="605400" cy="621300"/>
          </a:xfrm>
          <a:prstGeom prst="ellipse">
            <a:avLst/>
          </a:prstGeom>
          <a:solidFill>
            <a:srgbClr val="017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Lato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Indie Flower"/>
                <a:ea typeface="Indie Flower"/>
                <a:cs typeface="Indie Flower"/>
                <a:sym typeface="Indie Flower"/>
              </a:rPr>
              <a:t>2</a:t>
            </a:r>
            <a:endParaRPr sz="3000">
              <a:latin typeface="Indie Flower"/>
              <a:ea typeface="Indie Flower"/>
              <a:cs typeface="Indie Flower"/>
              <a:sym typeface="Indie Flower"/>
            </a:endParaRPr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113" y="3187229"/>
            <a:ext cx="473007" cy="47300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/>
          <p:nvPr/>
        </p:nvSpPr>
        <p:spPr>
          <a:xfrm>
            <a:off x="1376875" y="3660249"/>
            <a:ext cx="605400" cy="621300"/>
          </a:xfrm>
          <a:prstGeom prst="ellipse">
            <a:avLst/>
          </a:prstGeom>
          <a:solidFill>
            <a:srgbClr val="413F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Lato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Indie Flower"/>
                <a:ea typeface="Indie Flower"/>
                <a:cs typeface="Indie Flower"/>
                <a:sym typeface="Indie Flower"/>
              </a:rPr>
              <a:t>3</a:t>
            </a:r>
            <a:endParaRPr sz="3000">
              <a:latin typeface="Indie Flower"/>
              <a:ea typeface="Indie Flower"/>
              <a:cs typeface="Indie Flower"/>
              <a:sym typeface="Indie Flow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/>
          <p:nvPr/>
        </p:nvSpPr>
        <p:spPr>
          <a:xfrm>
            <a:off x="507950" y="901200"/>
            <a:ext cx="8203200" cy="3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274300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ubik"/>
                <a:ea typeface="Rubik"/>
                <a:cs typeface="Rubik"/>
                <a:sym typeface="Rubik"/>
              </a:rPr>
              <a:t>What's something you own that someone else might want to steal? Why? What would they do with it?</a:t>
            </a:r>
            <a:br>
              <a:rPr lang="en" sz="2000">
                <a:latin typeface="Rubik"/>
                <a:ea typeface="Rubik"/>
                <a:cs typeface="Rubik"/>
                <a:sym typeface="Rubik"/>
              </a:rPr>
            </a:br>
            <a:endParaRPr sz="2000"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Rubik"/>
                <a:ea typeface="Rubik"/>
                <a:cs typeface="Rubik"/>
                <a:sym typeface="Rubik"/>
              </a:rPr>
              <a:t>Directions:</a:t>
            </a:r>
            <a:endParaRPr sz="2000">
              <a:latin typeface="Rubik"/>
              <a:ea typeface="Rubik"/>
              <a:cs typeface="Rubik"/>
              <a:sym typeface="Rubik"/>
            </a:endParaRPr>
          </a:p>
          <a:p>
            <a:pPr indent="-35814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AutoNum type="arabicPeriod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Take a moment to think silently about these questions.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814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Lato"/>
              <a:buAutoNum type="arabicPeriod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Then, take turns sharing your responses with your partner.</a:t>
            </a:r>
            <a:endParaRPr i="0" sz="2000" u="none" cap="none" strike="noStrike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663" y="190700"/>
            <a:ext cx="340875" cy="3408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577550" y="190700"/>
            <a:ext cx="2455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ubik"/>
                <a:ea typeface="Rubik"/>
                <a:cs typeface="Rubik"/>
                <a:sym typeface="Rubik"/>
              </a:rPr>
              <a:t>WARM UP: THINK-PAIR-SHARE</a:t>
            </a:r>
            <a:endParaRPr sz="120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KEY VOCABULARY </a:t>
            </a:r>
            <a:endParaRPr/>
          </a:p>
        </p:txBody>
      </p:sp>
      <p:sp>
        <p:nvSpPr>
          <p:cNvPr id="136" name="Google Shape;136;p26"/>
          <p:cNvSpPr txBox="1"/>
          <p:nvPr>
            <p:ph type="title"/>
          </p:nvPr>
        </p:nvSpPr>
        <p:spPr>
          <a:xfrm>
            <a:off x="899700" y="1032450"/>
            <a:ext cx="71703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Identity theft</a:t>
            </a:r>
            <a:endParaRPr/>
          </a:p>
        </p:txBody>
      </p:sp>
      <p:sp>
        <p:nvSpPr>
          <p:cNvPr id="137" name="Google Shape;137;p26"/>
          <p:cNvSpPr txBox="1"/>
          <p:nvPr>
            <p:ph idx="2" type="body"/>
          </p:nvPr>
        </p:nvSpPr>
        <p:spPr>
          <a:xfrm>
            <a:off x="899700" y="2190350"/>
            <a:ext cx="73446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 type of crime in which your private information is stolen and used for criminal activity</a:t>
            </a:r>
            <a:endParaRPr/>
          </a:p>
        </p:txBody>
      </p:sp>
      <p:pic>
        <p:nvPicPr>
          <p:cNvPr id="138" name="Google Shape;138;p26"/>
          <p:cNvPicPr preferRelativeResize="0"/>
          <p:nvPr/>
        </p:nvPicPr>
        <p:blipFill rotWithShape="1">
          <a:blip r:embed="rId3">
            <a:alphaModFix/>
          </a:blip>
          <a:srcRect b="0" l="446" r="436" t="0"/>
          <a:stretch/>
        </p:blipFill>
        <p:spPr>
          <a:xfrm>
            <a:off x="198825" y="205553"/>
            <a:ext cx="294540" cy="32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700" y="1455075"/>
            <a:ext cx="3248550" cy="671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KEY VOCABULARY</a:t>
            </a:r>
            <a:endParaRPr/>
          </a:p>
        </p:txBody>
      </p:sp>
      <p:sp>
        <p:nvSpPr>
          <p:cNvPr id="145" name="Google Shape;145;p27"/>
          <p:cNvSpPr txBox="1"/>
          <p:nvPr>
            <p:ph type="title"/>
          </p:nvPr>
        </p:nvSpPr>
        <p:spPr>
          <a:xfrm>
            <a:off x="927950" y="1032450"/>
            <a:ext cx="71703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Private information</a:t>
            </a:r>
            <a:endParaRPr/>
          </a:p>
        </p:txBody>
      </p:sp>
      <p:sp>
        <p:nvSpPr>
          <p:cNvPr id="146" name="Google Shape;146;p27"/>
          <p:cNvSpPr txBox="1"/>
          <p:nvPr>
            <p:ph idx="2" type="body"/>
          </p:nvPr>
        </p:nvSpPr>
        <p:spPr>
          <a:xfrm>
            <a:off x="899700" y="2190350"/>
            <a:ext cx="73446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Information that can be used to identify you because it is unique to you (e.g., your full name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or your address)</a:t>
            </a:r>
            <a:endParaRPr/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175" y="1455075"/>
            <a:ext cx="4860700" cy="67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7"/>
          <p:cNvPicPr preferRelativeResize="0"/>
          <p:nvPr/>
        </p:nvPicPr>
        <p:blipFill rotWithShape="1">
          <a:blip r:embed="rId4">
            <a:alphaModFix/>
          </a:blip>
          <a:srcRect b="0" l="446" r="436" t="0"/>
          <a:stretch/>
        </p:blipFill>
        <p:spPr>
          <a:xfrm>
            <a:off x="198825" y="205553"/>
            <a:ext cx="294540" cy="3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0" y="581225"/>
            <a:ext cx="9144000" cy="6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Thieves Use Others' Information To . . .</a:t>
            </a:r>
            <a:endParaRPr/>
          </a:p>
        </p:txBody>
      </p:sp>
      <p:graphicFrame>
        <p:nvGraphicFramePr>
          <p:cNvPr id="154" name="Google Shape;154;p28"/>
          <p:cNvGraphicFramePr/>
          <p:nvPr/>
        </p:nvGraphicFramePr>
        <p:xfrm>
          <a:off x="906450" y="135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{E8692AD0-319E-43A6-AE00-A819099EB9DD}</a:tableStyleId>
              </a:tblPr>
              <a:tblGrid>
                <a:gridCol w="2968925"/>
                <a:gridCol w="4270075"/>
              </a:tblGrid>
              <a:tr h="72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cyberbully someone.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57D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45454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5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create false documents.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57D"/>
                    </a:solidFill>
                  </a:tcPr>
                </a:tc>
                <a:tc vMerge="1"/>
              </a:tr>
              <a:tr h="72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buy things with others' money.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57D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454545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get loans, jobs, or driver's licenses.</a:t>
                      </a:r>
                      <a:endParaRPr>
                        <a:solidFill>
                          <a:srgbClr val="FFFFFF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57D"/>
                    </a:solidFill>
                  </a:tcPr>
                </a:tc>
                <a:tc vMerge="1"/>
              </a:tr>
            </a:tbl>
          </a:graphicData>
        </a:graphic>
      </p:graphicFrame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75" y="190700"/>
            <a:ext cx="353400" cy="3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 txBox="1"/>
          <p:nvPr/>
        </p:nvSpPr>
        <p:spPr>
          <a:xfrm>
            <a:off x="577550" y="196150"/>
            <a:ext cx="2402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EXPLORE</a:t>
            </a: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 CLASS DISCUSSION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8"/>
          <p:cNvPicPr preferRelativeResize="0"/>
          <p:nvPr/>
        </p:nvPicPr>
        <p:blipFill rotWithShape="1">
          <a:blip r:embed="rId4">
            <a:alphaModFix/>
          </a:blip>
          <a:srcRect b="32170" l="0" r="0" t="16967"/>
          <a:stretch/>
        </p:blipFill>
        <p:spPr>
          <a:xfrm>
            <a:off x="3875375" y="2973000"/>
            <a:ext cx="4270074" cy="144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8"/>
          <p:cNvPicPr preferRelativeResize="0"/>
          <p:nvPr/>
        </p:nvPicPr>
        <p:blipFill rotWithShape="1">
          <a:blip r:embed="rId5">
            <a:alphaModFix/>
          </a:blip>
          <a:srcRect b="40647" l="37292" r="12319" t="30946"/>
          <a:stretch/>
        </p:blipFill>
        <p:spPr>
          <a:xfrm>
            <a:off x="3875375" y="1357900"/>
            <a:ext cx="4270073" cy="1604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9"/>
          <p:cNvPicPr preferRelativeResize="0"/>
          <p:nvPr/>
        </p:nvPicPr>
        <p:blipFill rotWithShape="1">
          <a:blip r:embed="rId3">
            <a:alphaModFix/>
          </a:blip>
          <a:srcRect b="0" l="446" r="436" t="0"/>
          <a:stretch/>
        </p:blipFill>
        <p:spPr>
          <a:xfrm>
            <a:off x="198825" y="205553"/>
            <a:ext cx="294540" cy="32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9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KEY VOCABULARY</a:t>
            </a:r>
            <a:endParaRPr/>
          </a:p>
        </p:txBody>
      </p:sp>
      <p:sp>
        <p:nvSpPr>
          <p:cNvPr id="165" name="Google Shape;165;p29"/>
          <p:cNvSpPr txBox="1"/>
          <p:nvPr>
            <p:ph type="title"/>
          </p:nvPr>
        </p:nvSpPr>
        <p:spPr>
          <a:xfrm>
            <a:off x="958725" y="1032450"/>
            <a:ext cx="71703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Internet scam</a:t>
            </a:r>
            <a:endParaRPr/>
          </a:p>
        </p:txBody>
      </p:sp>
      <p:sp>
        <p:nvSpPr>
          <p:cNvPr id="166" name="Google Shape;166;p29"/>
          <p:cNvSpPr txBox="1"/>
          <p:nvPr>
            <p:ph idx="2" type="body"/>
          </p:nvPr>
        </p:nvSpPr>
        <p:spPr>
          <a:xfrm>
            <a:off x="958725" y="2144300"/>
            <a:ext cx="73446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 attempt to trick someone online, usually with the intention of stealing money or private information</a:t>
            </a:r>
            <a:endParaRPr/>
          </a:p>
        </p:txBody>
      </p:sp>
      <p:pic>
        <p:nvPicPr>
          <p:cNvPr id="167" name="Google Shape;16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8725" y="1543325"/>
            <a:ext cx="3548475" cy="68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KEY VOCABULARY</a:t>
            </a:r>
            <a:endParaRPr/>
          </a:p>
        </p:txBody>
      </p:sp>
      <p:sp>
        <p:nvSpPr>
          <p:cNvPr id="173" name="Google Shape;173;p30"/>
          <p:cNvSpPr txBox="1"/>
          <p:nvPr>
            <p:ph type="title"/>
          </p:nvPr>
        </p:nvSpPr>
        <p:spPr>
          <a:xfrm>
            <a:off x="816201" y="1032450"/>
            <a:ext cx="71703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Phishing</a:t>
            </a:r>
            <a:endParaRPr/>
          </a:p>
        </p:txBody>
      </p:sp>
      <p:sp>
        <p:nvSpPr>
          <p:cNvPr id="174" name="Google Shape;174;p30"/>
          <p:cNvSpPr txBox="1"/>
          <p:nvPr>
            <p:ph idx="2" type="body"/>
          </p:nvPr>
        </p:nvSpPr>
        <p:spPr>
          <a:xfrm>
            <a:off x="816201" y="2190350"/>
            <a:ext cx="73446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When someone poses as an institution, like a bank or a school, and sends you a personalized message asking you to provide private information</a:t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200" y="1599800"/>
            <a:ext cx="23889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4">
            <a:alphaModFix/>
          </a:blip>
          <a:srcRect b="0" l="446" r="436" t="0"/>
          <a:stretch/>
        </p:blipFill>
        <p:spPr>
          <a:xfrm>
            <a:off x="198825" y="205553"/>
            <a:ext cx="294540" cy="3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KEY VOCABULARY</a:t>
            </a:r>
            <a:endParaRPr/>
          </a:p>
        </p:txBody>
      </p:sp>
      <p:sp>
        <p:nvSpPr>
          <p:cNvPr id="182" name="Google Shape;182;p31"/>
          <p:cNvSpPr txBox="1"/>
          <p:nvPr>
            <p:ph type="title"/>
          </p:nvPr>
        </p:nvSpPr>
        <p:spPr>
          <a:xfrm>
            <a:off x="863575" y="731825"/>
            <a:ext cx="71703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Clues to Phishing scams</a:t>
            </a:r>
            <a:endParaRPr/>
          </a:p>
        </p:txBody>
      </p:sp>
      <p:sp>
        <p:nvSpPr>
          <p:cNvPr id="183" name="Google Shape;183;p31"/>
          <p:cNvSpPr txBox="1"/>
          <p:nvPr>
            <p:ph idx="2" type="body"/>
          </p:nvPr>
        </p:nvSpPr>
        <p:spPr>
          <a:xfrm>
            <a:off x="893575" y="1909375"/>
            <a:ext cx="7344600" cy="26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highlight>
                  <a:srgbClr val="FFFF00"/>
                </a:highlight>
              </a:rPr>
              <a:t>Sense of urgency</a:t>
            </a:r>
            <a:r>
              <a:rPr lang="en" sz="1200">
                <a:solidFill>
                  <a:schemeClr val="dk1"/>
                </a:solidFill>
                <a:highlight>
                  <a:srgbClr val="FFFF00"/>
                </a:highlight>
              </a:rPr>
              <a:t>: </a:t>
            </a:r>
            <a:r>
              <a:rPr lang="en" sz="1200">
                <a:solidFill>
                  <a:schemeClr val="dk1"/>
                </a:solidFill>
              </a:rPr>
              <a:t>When the sender says you only have a limited time to respond.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highlight>
                  <a:srgbClr val="FFFF00"/>
                </a:highlight>
              </a:rPr>
              <a:t>Spelling and grammar errors</a:t>
            </a:r>
            <a:r>
              <a:rPr lang="en" sz="1200">
                <a:solidFill>
                  <a:schemeClr val="dk1"/>
                </a:solidFill>
                <a:highlight>
                  <a:srgbClr val="FFFF00"/>
                </a:highlight>
              </a:rPr>
              <a:t>:</a:t>
            </a:r>
            <a:r>
              <a:rPr lang="en" sz="1200">
                <a:solidFill>
                  <a:schemeClr val="dk1"/>
                </a:solidFill>
              </a:rPr>
              <a:t> A real company does not send out messages with such errors.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highlight>
                  <a:srgbClr val="FFFF00"/>
                </a:highlight>
              </a:rPr>
              <a:t>Alert! Alert!</a:t>
            </a:r>
            <a:r>
              <a:rPr lang="en" sz="1200">
                <a:solidFill>
                  <a:schemeClr val="dk1"/>
                </a:solidFill>
              </a:rPr>
              <a:t>: The message sounds urgent, making you worry that something is wrong with 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your account.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highlight>
                  <a:srgbClr val="FFFF00"/>
                </a:highlight>
              </a:rPr>
              <a:t>"Friend" in trouble</a:t>
            </a:r>
            <a:r>
              <a:rPr lang="en" sz="1200">
                <a:solidFill>
                  <a:schemeClr val="dk1"/>
                </a:solidFill>
              </a:rPr>
              <a:t>: You see a photo of someone you know, but the message isn't really 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from them.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highlight>
                  <a:srgbClr val="FFFF00"/>
                </a:highlight>
              </a:rPr>
              <a:t>Shortened URL</a:t>
            </a:r>
            <a:r>
              <a:rPr lang="en" sz="1200">
                <a:solidFill>
                  <a:schemeClr val="dk1"/>
                </a:solidFill>
              </a:rPr>
              <a:t>: A web address that has been condensed and that could mislead a user into going into a risky website.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highlight>
                  <a:srgbClr val="FFFF00"/>
                </a:highlight>
              </a:rPr>
              <a:t>Too good to be true</a:t>
            </a:r>
            <a:r>
              <a:rPr lang="en" sz="1200">
                <a:solidFill>
                  <a:schemeClr val="dk1"/>
                </a:solidFill>
              </a:rPr>
              <a:t>: Identity thieves often offer easy chances to win free money or prizes.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highlight>
                  <a:srgbClr val="FFFF00"/>
                </a:highlight>
              </a:rPr>
              <a:t>Generic or missing greeting</a:t>
            </a:r>
            <a:r>
              <a:rPr lang="en" sz="1200">
                <a:solidFill>
                  <a:schemeClr val="dk1"/>
                </a:solidFill>
              </a:rPr>
              <a:t>: Real companies send messages that address customers by name.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Now, on the next page we will use these phishing clues to decide if we should “click it” or “skip it”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84" name="Google Shape;184;p31"/>
          <p:cNvPicPr preferRelativeResize="0"/>
          <p:nvPr/>
        </p:nvPicPr>
        <p:blipFill rotWithShape="1">
          <a:blip r:embed="rId3">
            <a:alphaModFix/>
          </a:blip>
          <a:srcRect b="0" l="446" r="436" t="0"/>
          <a:stretch/>
        </p:blipFill>
        <p:spPr>
          <a:xfrm>
            <a:off x="198825" y="205553"/>
            <a:ext cx="294540" cy="32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975" y="1163175"/>
            <a:ext cx="2388925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/>
        </p:nvSpPr>
        <p:spPr>
          <a:xfrm>
            <a:off x="577550" y="196150"/>
            <a:ext cx="21414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ACTIVITY: </a:t>
            </a: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GROUP WORK</a:t>
            </a:r>
            <a:endParaRPr sz="120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91" name="Google Shape;19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25" y="205550"/>
            <a:ext cx="353400" cy="3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2"/>
          <p:cNvSpPr txBox="1"/>
          <p:nvPr>
            <p:ph type="title"/>
          </p:nvPr>
        </p:nvSpPr>
        <p:spPr>
          <a:xfrm>
            <a:off x="3085300" y="415575"/>
            <a:ext cx="31032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Click It or Skip It?</a:t>
            </a:r>
            <a:endParaRPr sz="240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93" name="Google Shape;19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052" y="1087972"/>
            <a:ext cx="2856345" cy="163609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4" name="Google Shape;194;p32"/>
          <p:cNvPicPr preferRelativeResize="0"/>
          <p:nvPr/>
        </p:nvPicPr>
        <p:blipFill rotWithShape="1">
          <a:blip r:embed="rId5">
            <a:alphaModFix/>
          </a:blip>
          <a:srcRect b="19" l="0" r="0" t="29"/>
          <a:stretch/>
        </p:blipFill>
        <p:spPr>
          <a:xfrm>
            <a:off x="361050" y="2897306"/>
            <a:ext cx="3747685" cy="1598393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5" name="Google Shape;195;p32"/>
          <p:cNvPicPr preferRelativeResize="0"/>
          <p:nvPr/>
        </p:nvPicPr>
        <p:blipFill rotWithShape="1">
          <a:blip r:embed="rId6">
            <a:alphaModFix/>
          </a:blip>
          <a:srcRect b="0" l="1028" r="1028" t="0"/>
          <a:stretch/>
        </p:blipFill>
        <p:spPr>
          <a:xfrm>
            <a:off x="4319897" y="1080825"/>
            <a:ext cx="2155813" cy="3576273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6" name="Google Shape;196;p32"/>
          <p:cNvPicPr preferRelativeResize="0"/>
          <p:nvPr/>
        </p:nvPicPr>
        <p:blipFill rotWithShape="1">
          <a:blip r:embed="rId7">
            <a:alphaModFix/>
          </a:blip>
          <a:srcRect b="0" l="1028" r="1028" t="0"/>
          <a:stretch/>
        </p:blipFill>
        <p:spPr>
          <a:xfrm>
            <a:off x="6627138" y="1080825"/>
            <a:ext cx="2155813" cy="3576273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3"/>
          <p:cNvPicPr preferRelativeResize="0"/>
          <p:nvPr/>
        </p:nvPicPr>
        <p:blipFill rotWithShape="1">
          <a:blip r:embed="rId3">
            <a:alphaModFix/>
          </a:blip>
          <a:srcRect b="0" l="446" r="436" t="0"/>
          <a:stretch/>
        </p:blipFill>
        <p:spPr>
          <a:xfrm>
            <a:off x="198825" y="205553"/>
            <a:ext cx="294540" cy="32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3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KEY VOCABULARY</a:t>
            </a:r>
            <a:endParaRPr/>
          </a:p>
        </p:txBody>
      </p:sp>
      <p:sp>
        <p:nvSpPr>
          <p:cNvPr id="203" name="Google Shape;203;p33"/>
          <p:cNvSpPr txBox="1"/>
          <p:nvPr>
            <p:ph type="title"/>
          </p:nvPr>
        </p:nvSpPr>
        <p:spPr>
          <a:xfrm>
            <a:off x="899700" y="1032450"/>
            <a:ext cx="71703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Shortened URL</a:t>
            </a:r>
            <a:endParaRPr/>
          </a:p>
        </p:txBody>
      </p:sp>
      <p:sp>
        <p:nvSpPr>
          <p:cNvPr id="204" name="Google Shape;204;p33"/>
          <p:cNvSpPr txBox="1"/>
          <p:nvPr>
            <p:ph idx="2" type="body"/>
          </p:nvPr>
        </p:nvSpPr>
        <p:spPr>
          <a:xfrm>
            <a:off x="899700" y="2190350"/>
            <a:ext cx="73446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web address that has been condensed and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that could potentially mislead a user into going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into a risky website</a:t>
            </a:r>
            <a:endParaRPr/>
          </a:p>
        </p:txBody>
      </p:sp>
      <p:pic>
        <p:nvPicPr>
          <p:cNvPr id="205" name="Google Shape;20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700" y="1520875"/>
            <a:ext cx="3639600" cy="752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ACTIVITY: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EXIT TICKET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1" name="Google Shape;211;p34"/>
          <p:cNvSpPr txBox="1"/>
          <p:nvPr>
            <p:ph idx="2" type="body"/>
          </p:nvPr>
        </p:nvSpPr>
        <p:spPr>
          <a:xfrm>
            <a:off x="1138200" y="1770800"/>
            <a:ext cx="6867600" cy="12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AutoNum type="arabicPeriod"/>
            </a:pPr>
            <a:r>
              <a:rPr lang="en">
                <a:solidFill>
                  <a:schemeClr val="dk1"/>
                </a:solidFill>
              </a:rPr>
              <a:t>What is important to know about shortened URLs? 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000"/>
              <a:buFont typeface="Lato"/>
              <a:buAutoNum type="arabicPeriod"/>
            </a:pPr>
            <a:r>
              <a:rPr lang="en">
                <a:solidFill>
                  <a:schemeClr val="dk1"/>
                </a:solidFill>
              </a:rPr>
              <a:t>What </a:t>
            </a:r>
            <a:r>
              <a:rPr lang="en">
                <a:solidFill>
                  <a:schemeClr val="dk1"/>
                </a:solidFill>
              </a:rPr>
              <a:t>else should you check for in a message</a:t>
            </a:r>
            <a:r>
              <a:rPr lang="en">
                <a:solidFill>
                  <a:schemeClr val="dk1"/>
                </a:solidFill>
              </a:rPr>
              <a:t>? Give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two examples.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2" name="Google Shape;212;p34"/>
          <p:cNvSpPr txBox="1"/>
          <p:nvPr>
            <p:ph type="title"/>
          </p:nvPr>
        </p:nvSpPr>
        <p:spPr>
          <a:xfrm>
            <a:off x="0" y="749750"/>
            <a:ext cx="9144000" cy="6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Stay Safe from Scams</a:t>
            </a:r>
            <a:endParaRPr/>
          </a:p>
        </p:txBody>
      </p:sp>
      <p:pic>
        <p:nvPicPr>
          <p:cNvPr id="213" name="Google Shape;21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25" y="196150"/>
            <a:ext cx="323700" cy="3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idx="1" type="subTitle"/>
          </p:nvPr>
        </p:nvSpPr>
        <p:spPr>
          <a:xfrm>
            <a:off x="577550" y="196150"/>
            <a:ext cx="2321700" cy="3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ACTIVITY: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THINK-PAIR-SHARE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9" name="Google Shape;219;p35"/>
          <p:cNvSpPr txBox="1"/>
          <p:nvPr>
            <p:ph idx="2" type="body"/>
          </p:nvPr>
        </p:nvSpPr>
        <p:spPr>
          <a:xfrm>
            <a:off x="1138200" y="1770800"/>
            <a:ext cx="6867600" cy="17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AutoNum type="arabicPeriod"/>
            </a:pPr>
            <a:r>
              <a:rPr lang="en">
                <a:solidFill>
                  <a:schemeClr val="dk1"/>
                </a:solidFill>
              </a:rPr>
              <a:t>Discuss</a:t>
            </a:r>
            <a:r>
              <a:rPr lang="en">
                <a:solidFill>
                  <a:schemeClr val="dk1"/>
                </a:solidFill>
              </a:rPr>
              <a:t> the clues to messages that may be phishing scams. 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AutoNum type="arabicPeriod"/>
            </a:pPr>
            <a:r>
              <a:rPr lang="en">
                <a:solidFill>
                  <a:schemeClr val="dk1"/>
                </a:solidFill>
              </a:rPr>
              <a:t>Highlight clues in the messages.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000"/>
              <a:buFont typeface="Lato"/>
              <a:buAutoNum type="arabicPeriod"/>
            </a:pPr>
            <a:r>
              <a:rPr lang="en">
                <a:solidFill>
                  <a:schemeClr val="dk1"/>
                </a:solidFill>
              </a:rPr>
              <a:t>Add a note about the clue in the box.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0" name="Google Shape;220;p35"/>
          <p:cNvSpPr txBox="1"/>
          <p:nvPr>
            <p:ph type="title"/>
          </p:nvPr>
        </p:nvSpPr>
        <p:spPr>
          <a:xfrm>
            <a:off x="0" y="749750"/>
            <a:ext cx="9144000" cy="6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Directions (optional handout)</a:t>
            </a:r>
            <a:endParaRPr/>
          </a:p>
        </p:txBody>
      </p:sp>
      <p:pic>
        <p:nvPicPr>
          <p:cNvPr id="221" name="Google Shape;221;p35"/>
          <p:cNvPicPr preferRelativeResize="0"/>
          <p:nvPr/>
        </p:nvPicPr>
        <p:blipFill rotWithShape="1">
          <a:blip r:embed="rId3">
            <a:alphaModFix/>
          </a:blip>
          <a:srcRect b="0" l="0" r="0" t="14529"/>
          <a:stretch/>
        </p:blipFill>
        <p:spPr>
          <a:xfrm>
            <a:off x="182625" y="232750"/>
            <a:ext cx="378725" cy="3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2000" y="2037575"/>
            <a:ext cx="2836475" cy="95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6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 rot="-644335">
            <a:off x="2821975" y="2191712"/>
            <a:ext cx="355374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6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 rot="9056334">
            <a:off x="5965925" y="2191713"/>
            <a:ext cx="355374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gCit 2.0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gCit 2.0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igCit 2.0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