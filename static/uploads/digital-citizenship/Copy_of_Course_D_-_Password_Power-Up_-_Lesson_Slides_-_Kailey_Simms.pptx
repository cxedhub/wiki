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ubik Medium"/>
      <p:regular r:id="rId16"/>
      <p:bold r:id="rId17"/>
      <p:italic r:id="rId18"/>
      <p:boldItalic r:id="rId19"/>
    </p:embeddedFont>
    <p:embeddedFont>
      <p:font typeface="Rubik Ligh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Gloria Hallelujah"/>
      <p:regular r:id="rId28"/>
    </p:embeddedFont>
    <p:embeddedFont>
      <p:font typeface="Indie Flower"/>
      <p:regular r:id="rId29"/>
    </p:embeddedFont>
    <p:embeddedFont>
      <p:font typeface="Rubik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F93E94-D66C-49C1-AA4A-0FABFF244BFC}">
  <a:tblStyle styleId="{9EF93E94-D66C-49C1-AA4A-0FABFF244B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ubikLight-regular.fntdata"/><Relationship Id="rId22" Type="http://schemas.openxmlformats.org/officeDocument/2006/relationships/font" Target="fonts/RubikLight-italic.fntdata"/><Relationship Id="rId21" Type="http://schemas.openxmlformats.org/officeDocument/2006/relationships/font" Target="fonts/RubikLight-bold.fntdata"/><Relationship Id="rId24" Type="http://schemas.openxmlformats.org/officeDocument/2006/relationships/font" Target="fonts/Lato-regular.fntdata"/><Relationship Id="rId23" Type="http://schemas.openxmlformats.org/officeDocument/2006/relationships/font" Target="fonts/Rubik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GloriaHallelujah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dieFlow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ubik-bold.fntdata"/><Relationship Id="rId30" Type="http://schemas.openxmlformats.org/officeDocument/2006/relationships/font" Target="fonts/Rubik-regular.fntdata"/><Relationship Id="rId11" Type="http://schemas.openxmlformats.org/officeDocument/2006/relationships/slide" Target="slides/slide5.xml"/><Relationship Id="rId33" Type="http://schemas.openxmlformats.org/officeDocument/2006/relationships/font" Target="fonts/Rubik-boldItalic.fntdata"/><Relationship Id="rId10" Type="http://schemas.openxmlformats.org/officeDocument/2006/relationships/slide" Target="slides/slide4.xml"/><Relationship Id="rId32" Type="http://schemas.openxmlformats.org/officeDocument/2006/relationships/font" Target="fonts/Rubik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ubikMedium-bold.fntdata"/><Relationship Id="rId16" Type="http://schemas.openxmlformats.org/officeDocument/2006/relationships/font" Target="fonts/RubikMedium-regular.fntdata"/><Relationship Id="rId19" Type="http://schemas.openxmlformats.org/officeDocument/2006/relationships/font" Target="fonts/RubikMedium-boldItalic.fntdata"/><Relationship Id="rId18" Type="http://schemas.openxmlformats.org/officeDocument/2006/relationships/font" Target="fonts/Rubik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02f4f3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g3d02f4f3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c61e5efd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Google Shape;27;g3c61e5efd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b037fe8d8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Google Shape;34;g3b037fe8d8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c3d55221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3c3d55221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037fe8d8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037fe8d8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037fe8d8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037fe8d8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f30f4dfd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f30f4dfd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416ba77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416ba77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037fe8d8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037fe8d8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476875" y="4767625"/>
            <a:ext cx="2532437" cy="2402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/>
        </p:nvSpPr>
        <p:spPr>
          <a:xfrm>
            <a:off x="622525" y="4720200"/>
            <a:ext cx="5026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rPr>
              <a:t>commonsense.org/education</a:t>
            </a:r>
            <a:r>
              <a:rPr lang="en" sz="8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600">
              <a:solidFill>
                <a:srgbClr val="99999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99999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Shareable with attribution for noncommercial use. Remixing is permitted.</a:t>
            </a:r>
            <a:endParaRPr sz="600">
              <a:solidFill>
                <a:srgbClr val="99999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2">
            <a:alphaModFix/>
          </a:blip>
          <a:srcRect b="0" l="357" r="357" t="0"/>
          <a:stretch/>
        </p:blipFill>
        <p:spPr>
          <a:xfrm>
            <a:off x="134575" y="4835977"/>
            <a:ext cx="487950" cy="1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/>
          <p:nvPr/>
        </p:nvSpPr>
        <p:spPr>
          <a:xfrm>
            <a:off x="0" y="4656675"/>
            <a:ext cx="9144000" cy="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-150" y="-3075"/>
            <a:ext cx="3631200" cy="516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275" y="4563276"/>
            <a:ext cx="3064000" cy="2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 flipH="1" rot="10800000">
            <a:off x="280125" y="4329642"/>
            <a:ext cx="3063300" cy="34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193350" y="1423068"/>
            <a:ext cx="29214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Rubik"/>
                <a:ea typeface="Rubik"/>
                <a:cs typeface="Rubik"/>
                <a:sym typeface="Rubik"/>
              </a:rPr>
              <a:t>DIGITAL CITIZENSHIP | GRADE 3</a:t>
            </a:r>
            <a:endParaRPr sz="1200">
              <a:solidFill>
                <a:srgbClr val="999999"/>
              </a:solidFill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193350" y="1741900"/>
            <a:ext cx="3207300" cy="24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Rubik"/>
                <a:ea typeface="Rubik"/>
                <a:cs typeface="Rubik"/>
                <a:sym typeface="Rubik"/>
              </a:rPr>
              <a:t>Password Power-Up</a:t>
            </a:r>
            <a:endParaRPr sz="3600">
              <a:latin typeface="Rubik Light"/>
              <a:ea typeface="Rubik Light"/>
              <a:cs typeface="Rubik Light"/>
              <a:sym typeface="Rubik Light"/>
            </a:endParaRPr>
          </a:p>
        </p:txBody>
      </p:sp>
      <p:pic>
        <p:nvPicPr>
          <p:cNvPr id="20" name="Google Shape;2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9000" y="14900"/>
            <a:ext cx="55313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/>
        </p:nvSpPr>
        <p:spPr>
          <a:xfrm rot="-366966">
            <a:off x="3889587" y="808866"/>
            <a:ext cx="5090877" cy="5753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Psssst…what’s your password?</a:t>
            </a:r>
            <a:endParaRPr b="1" sz="2400">
              <a:solidFill>
                <a:srgbClr val="FFFFFF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22" name="Google Shape;22;p3"/>
          <p:cNvSpPr txBox="1"/>
          <p:nvPr/>
        </p:nvSpPr>
        <p:spPr>
          <a:xfrm rot="-147548">
            <a:off x="5847277" y="2342798"/>
            <a:ext cx="1251553" cy="237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Enter Password</a:t>
            </a:r>
            <a:endParaRPr b="1" sz="900">
              <a:solidFill>
                <a:srgbClr val="FFFFFF"/>
              </a:solidFill>
            </a:endParaRPr>
          </a:p>
        </p:txBody>
      </p:sp>
      <p:pic>
        <p:nvPicPr>
          <p:cNvPr id="23" name="Google Shape;23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53" y="-7150"/>
            <a:ext cx="3609150" cy="89658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953925" y="68675"/>
            <a:ext cx="22512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6E5B2"/>
                </a:solidFill>
              </a:rPr>
              <a:t>PRIVACY &amp; SECURITY</a:t>
            </a:r>
            <a:endParaRPr sz="900">
              <a:solidFill>
                <a:srgbClr val="C6E5B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We care about </a:t>
            </a:r>
            <a:endParaRPr b="1" sz="1700">
              <a:solidFill>
                <a:srgbClr val="FFFFFF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everyone’s privacy.</a:t>
            </a:r>
            <a:endParaRPr b="1" sz="1700">
              <a:solidFill>
                <a:srgbClr val="FFFFFF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/>
        </p:nvSpPr>
        <p:spPr>
          <a:xfrm>
            <a:off x="-175" y="627725"/>
            <a:ext cx="9144000" cy="30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00"/>
              </a:buClr>
              <a:buSzPts val="2000"/>
              <a:buFont typeface="Lato"/>
              <a:buNone/>
            </a:pPr>
            <a:r>
              <a:rPr lang="en" sz="3000">
                <a:latin typeface="Rubik"/>
                <a:ea typeface="Rubik"/>
                <a:cs typeface="Rubik"/>
                <a:sym typeface="Rubik"/>
              </a:rPr>
              <a:t>Essential Question</a:t>
            </a:r>
            <a:endParaRPr b="0" i="0" sz="3000" u="none" cap="none" strike="noStrike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8855"/>
              </a:buClr>
              <a:buSzPts val="1600"/>
              <a:buFont typeface="Lato"/>
              <a:buNone/>
            </a:pPr>
            <a:br>
              <a:rPr b="1" lang="en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rPr>
            </a:br>
            <a:r>
              <a:rPr b="1" lang="en" sz="2400">
                <a:solidFill>
                  <a:srgbClr val="00857D"/>
                </a:solidFill>
                <a:latin typeface="Indie Flower"/>
                <a:ea typeface="Indie Flower"/>
                <a:cs typeface="Indie Flower"/>
                <a:sym typeface="Indie Flower"/>
              </a:rPr>
              <a:t>How can a strong password </a:t>
            </a:r>
            <a:br>
              <a:rPr b="1" lang="en" sz="2400">
                <a:solidFill>
                  <a:srgbClr val="00857D"/>
                </a:solidFill>
                <a:latin typeface="Indie Flower"/>
                <a:ea typeface="Indie Flower"/>
                <a:cs typeface="Indie Flower"/>
                <a:sym typeface="Indie Flower"/>
              </a:rPr>
            </a:br>
            <a:r>
              <a:rPr b="1" lang="en" sz="2400">
                <a:solidFill>
                  <a:srgbClr val="00857D"/>
                </a:solidFill>
                <a:latin typeface="Indie Flower"/>
                <a:ea typeface="Indie Flower"/>
                <a:cs typeface="Indie Flower"/>
                <a:sym typeface="Indie Flower"/>
              </a:rPr>
              <a:t>help protect your privacy?</a:t>
            </a:r>
            <a:endParaRPr b="1" sz="2400">
              <a:solidFill>
                <a:srgbClr val="00857D"/>
              </a:solidFill>
              <a:latin typeface="Indie Flower"/>
              <a:ea typeface="Indie Flower"/>
              <a:cs typeface="Indie Flower"/>
              <a:sym typeface="Indie Flower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8855"/>
              </a:buClr>
              <a:buSzPts val="1600"/>
              <a:buFont typeface="Lato"/>
              <a:buNone/>
            </a:pPr>
            <a:r>
              <a:t/>
            </a:r>
            <a:endParaRPr b="1" sz="2400">
              <a:solidFill>
                <a:srgbClr val="00857D"/>
              </a:solidFill>
              <a:latin typeface="Indie Flower"/>
              <a:ea typeface="Indie Flower"/>
              <a:cs typeface="Indie Flower"/>
              <a:sym typeface="Indie Flower"/>
            </a:endParaRPr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1975" y="1830725"/>
            <a:ext cx="331675" cy="43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214275" y="2571750"/>
            <a:ext cx="334525" cy="43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/>
        </p:nvSpPr>
        <p:spPr>
          <a:xfrm>
            <a:off x="0" y="543792"/>
            <a:ext cx="91440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ubik"/>
                <a:ea typeface="Rubik"/>
                <a:cs typeface="Rubik"/>
                <a:sym typeface="Rubik"/>
              </a:rPr>
              <a:t>Learning Objectives</a:t>
            </a:r>
            <a:endParaRPr sz="30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2272675" y="1437675"/>
            <a:ext cx="6140700" cy="30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Define the term "password" and describe its purpose.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9910"/>
              </a:buClr>
              <a:buSzPts val="1920"/>
              <a:buFont typeface="Lato"/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49910"/>
              </a:buClr>
              <a:buSzPts val="1920"/>
              <a:buFont typeface="Lato"/>
              <a:buNone/>
            </a:pPr>
            <a:r>
              <a:t/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Understand why a strong password is important.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9910"/>
              </a:buClr>
              <a:buSzPts val="1920"/>
              <a:buFont typeface="Lato"/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Practice creating a memorable and strong password.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" name="Google Shape;3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213" y="1906586"/>
            <a:ext cx="473007" cy="473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213" y="3000954"/>
            <a:ext cx="473007" cy="47300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/>
          <p:nvPr/>
        </p:nvSpPr>
        <p:spPr>
          <a:xfrm>
            <a:off x="1172975" y="1285275"/>
            <a:ext cx="605400" cy="621300"/>
          </a:xfrm>
          <a:prstGeom prst="ellipse">
            <a:avLst/>
          </a:prstGeom>
          <a:solidFill>
            <a:srgbClr val="0085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Lato"/>
              <a:buNone/>
            </a:pPr>
            <a:r>
              <a:rPr b="1" lang="en" sz="3000">
                <a:solidFill>
                  <a:srgbClr val="FFFFFF"/>
                </a:solidFill>
                <a:latin typeface="Indie Flower"/>
                <a:ea typeface="Indie Flower"/>
                <a:cs typeface="Indie Flower"/>
                <a:sym typeface="Indie Flower"/>
              </a:rPr>
              <a:t>l</a:t>
            </a:r>
            <a:endParaRPr sz="3000">
              <a:latin typeface="Indie Flower"/>
              <a:ea typeface="Indie Flower"/>
              <a:cs typeface="Indie Flower"/>
              <a:sym typeface="Indie Flower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1172975" y="2379624"/>
            <a:ext cx="605400" cy="621300"/>
          </a:xfrm>
          <a:prstGeom prst="ellipse">
            <a:avLst/>
          </a:prstGeom>
          <a:solidFill>
            <a:srgbClr val="017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Lato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Indie Flower"/>
                <a:ea typeface="Indie Flower"/>
                <a:cs typeface="Indie Flower"/>
                <a:sym typeface="Indie Flower"/>
              </a:rPr>
              <a:t>2</a:t>
            </a:r>
            <a:endParaRPr sz="3000">
              <a:latin typeface="Indie Flower"/>
              <a:ea typeface="Indie Flower"/>
              <a:cs typeface="Indie Flower"/>
              <a:sym typeface="Indie Flower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172975" y="3473974"/>
            <a:ext cx="605400" cy="621300"/>
          </a:xfrm>
          <a:prstGeom prst="ellipse">
            <a:avLst/>
          </a:prstGeom>
          <a:solidFill>
            <a:srgbClr val="413F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Lato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Indie Flower"/>
                <a:ea typeface="Indie Flower"/>
                <a:cs typeface="Indie Flower"/>
                <a:sym typeface="Indie Flower"/>
              </a:rPr>
              <a:t>3</a:t>
            </a:r>
            <a:endParaRPr sz="3000">
              <a:latin typeface="Indie Flower"/>
              <a:ea typeface="Indie Flower"/>
              <a:cs typeface="Indie Flower"/>
              <a:sym typeface="Indie Flow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507950" y="901200"/>
            <a:ext cx="8203200" cy="3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274300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ubik"/>
                <a:ea typeface="Rubik"/>
                <a:cs typeface="Rubik"/>
                <a:sym typeface="Rubik"/>
              </a:rPr>
              <a:t>What is something in your life that you take steps to protect? </a:t>
            </a:r>
            <a:br>
              <a:rPr lang="en" sz="2000">
                <a:latin typeface="Rubik"/>
                <a:ea typeface="Rubik"/>
                <a:cs typeface="Rubik"/>
                <a:sym typeface="Rubik"/>
              </a:rPr>
            </a:br>
            <a:r>
              <a:rPr lang="en" sz="2000">
                <a:latin typeface="Rubik"/>
                <a:ea typeface="Rubik"/>
                <a:cs typeface="Rubik"/>
                <a:sym typeface="Rubik"/>
              </a:rPr>
              <a:t>Why and how do you protect it?</a:t>
            </a:r>
            <a:br>
              <a:rPr lang="en" sz="2000">
                <a:latin typeface="Rubik"/>
                <a:ea typeface="Rubik"/>
                <a:cs typeface="Rubik"/>
                <a:sym typeface="Rubik"/>
              </a:rPr>
            </a:br>
            <a:endParaRPr sz="20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Rubik"/>
                <a:ea typeface="Rubik"/>
                <a:cs typeface="Rubik"/>
                <a:sym typeface="Rubik"/>
              </a:rPr>
              <a:t>Directions:</a:t>
            </a:r>
            <a:endParaRPr sz="2000">
              <a:latin typeface="Rubik"/>
              <a:ea typeface="Rubik"/>
              <a:cs typeface="Rubik"/>
              <a:sym typeface="Rubik"/>
            </a:endParaRPr>
          </a:p>
          <a:p>
            <a:pPr indent="-35814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AutoNum type="arabicPeriod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Take a moment to think silently about these questions.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35814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Lato"/>
              <a:buAutoNum type="arabicPeriod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Then, take turns sharing your response with your partner.</a:t>
            </a:r>
            <a:endParaRPr i="0" sz="2000" u="none" cap="none" strike="noStrike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00" y="133650"/>
            <a:ext cx="410475" cy="410458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/>
        </p:nvSpPr>
        <p:spPr>
          <a:xfrm>
            <a:off x="595825" y="190700"/>
            <a:ext cx="24555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ubik"/>
                <a:ea typeface="Rubik"/>
                <a:cs typeface="Rubik"/>
                <a:sym typeface="Rubik"/>
              </a:rPr>
              <a:t>WARM UP: THINK</a:t>
            </a:r>
            <a:r>
              <a:rPr lang="en" sz="1200">
                <a:solidFill>
                  <a:srgbClr val="252525"/>
                </a:solidFill>
                <a:highlight>
                  <a:srgbClr val="FFFFFF"/>
                </a:highlight>
                <a:latin typeface="Rubik"/>
                <a:ea typeface="Rubik"/>
                <a:cs typeface="Rubik"/>
                <a:sym typeface="Rubik"/>
              </a:rPr>
              <a:t>–</a:t>
            </a:r>
            <a:r>
              <a:rPr lang="en" sz="1200">
                <a:latin typeface="Rubik"/>
                <a:ea typeface="Rubik"/>
                <a:cs typeface="Rubik"/>
                <a:sym typeface="Rubik"/>
              </a:rPr>
              <a:t>PAIR</a:t>
            </a:r>
            <a:r>
              <a:rPr lang="en" sz="1200">
                <a:solidFill>
                  <a:srgbClr val="252525"/>
                </a:solidFill>
                <a:highlight>
                  <a:srgbClr val="FFFFFF"/>
                </a:highlight>
                <a:latin typeface="Rubik"/>
                <a:ea typeface="Rubik"/>
                <a:cs typeface="Rubik"/>
                <a:sym typeface="Rubik"/>
              </a:rPr>
              <a:t>–</a:t>
            </a:r>
            <a:r>
              <a:rPr lang="en" sz="1200">
                <a:latin typeface="Rubik"/>
                <a:ea typeface="Rubik"/>
                <a:cs typeface="Rubik"/>
                <a:sym typeface="Rubik"/>
              </a:rPr>
              <a:t>SHARE</a:t>
            </a:r>
            <a:endParaRPr sz="120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/>
        </p:nvSpPr>
        <p:spPr>
          <a:xfrm>
            <a:off x="887850" y="2187300"/>
            <a:ext cx="7126200" cy="14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A secret string of letters, symbols, and numbers </a:t>
            </a:r>
            <a:br>
              <a:rPr lang="en" sz="2400">
                <a:latin typeface="Lato"/>
                <a:ea typeface="Lato"/>
                <a:cs typeface="Lato"/>
                <a:sym typeface="Lato"/>
              </a:rPr>
            </a:br>
            <a:r>
              <a:rPr lang="en" sz="2400">
                <a:latin typeface="Lato"/>
                <a:ea typeface="Lato"/>
                <a:cs typeface="Lato"/>
                <a:sym typeface="Lato"/>
              </a:rPr>
              <a:t>that you can use to restrict who can access something digital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" name="Google Shape;55;p7"/>
          <p:cNvSpPr txBox="1"/>
          <p:nvPr/>
        </p:nvSpPr>
        <p:spPr>
          <a:xfrm>
            <a:off x="887850" y="1020500"/>
            <a:ext cx="302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Rubik"/>
                <a:ea typeface="Rubik"/>
                <a:cs typeface="Rubik"/>
                <a:sym typeface="Rubik"/>
              </a:rPr>
              <a:t>Password</a:t>
            </a:r>
            <a:endParaRPr sz="40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6" name="Google Shape;56;p7"/>
          <p:cNvSpPr txBox="1"/>
          <p:nvPr/>
        </p:nvSpPr>
        <p:spPr>
          <a:xfrm>
            <a:off x="569575" y="190700"/>
            <a:ext cx="1779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ubik"/>
                <a:ea typeface="Rubik"/>
                <a:cs typeface="Rubik"/>
                <a:sym typeface="Rubik"/>
              </a:rPr>
              <a:t>KEY VOCABULARY</a:t>
            </a:r>
            <a:endParaRPr sz="120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075" y="1473600"/>
            <a:ext cx="26802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825" y="205550"/>
            <a:ext cx="294550" cy="320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/>
          <p:nvPr/>
        </p:nvSpPr>
        <p:spPr>
          <a:xfrm>
            <a:off x="507950" y="1566800"/>
            <a:ext cx="81906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274300" spcFirstLastPara="1" rIns="182875" wrap="square" tIns="182875">
            <a:noAutofit/>
          </a:bodyPr>
          <a:lstStyle/>
          <a:p>
            <a:pPr indent="-34544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AutoNum type="arabicPeriod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In your "home" group, read your assigned scenario and discuss what could happen if a password were stolen. Jot down your group's answer, and then wait for the teacher's instructions to switch to your "expert" group.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5440" lvl="0" marL="3429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Lato"/>
              <a:buAutoNum type="arabicPeriod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In your "expert" group, take turns sharing your "home" group's response. Complete your handout by taking notes on what each presenter shares.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" name="Google Shape;64;p8"/>
          <p:cNvSpPr txBox="1"/>
          <p:nvPr/>
        </p:nvSpPr>
        <p:spPr>
          <a:xfrm>
            <a:off x="584150" y="190700"/>
            <a:ext cx="2714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ubik"/>
                <a:ea typeface="Rubik"/>
                <a:cs typeface="Rubik"/>
                <a:sym typeface="Rubik"/>
              </a:rPr>
              <a:t>JIGSAW: UH-OH! IF … , THEN ...</a:t>
            </a:r>
            <a:endParaRPr sz="12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5" name="Google Shape;65;p8"/>
          <p:cNvSpPr txBox="1"/>
          <p:nvPr/>
        </p:nvSpPr>
        <p:spPr>
          <a:xfrm>
            <a:off x="0" y="848592"/>
            <a:ext cx="91440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ubik"/>
                <a:ea typeface="Rubik"/>
                <a:cs typeface="Rubik"/>
                <a:sym typeface="Rubik"/>
              </a:rPr>
              <a:t>Directions</a:t>
            </a:r>
            <a:endParaRPr sz="300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66" name="Google Shape;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850" y="190700"/>
            <a:ext cx="353400" cy="35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/>
        </p:nvSpPr>
        <p:spPr>
          <a:xfrm>
            <a:off x="887850" y="2187300"/>
            <a:ext cx="73683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A group of words that go together </a:t>
            </a:r>
            <a:r>
              <a:rPr lang="en" sz="2400">
                <a:latin typeface="Lato"/>
                <a:ea typeface="Lato"/>
                <a:cs typeface="Lato"/>
                <a:sym typeface="Lato"/>
              </a:rPr>
              <a:t>and are easy </a:t>
            </a:r>
            <a:br>
              <a:rPr lang="en" sz="2400">
                <a:latin typeface="Lato"/>
                <a:ea typeface="Lato"/>
                <a:cs typeface="Lato"/>
                <a:sym typeface="Lato"/>
              </a:rPr>
            </a:br>
            <a:r>
              <a:rPr lang="en" sz="2400">
                <a:latin typeface="Lato"/>
                <a:ea typeface="Lato"/>
                <a:cs typeface="Lato"/>
                <a:sym typeface="Lato"/>
              </a:rPr>
              <a:t>to remember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887850" y="1020500"/>
            <a:ext cx="302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Rubik"/>
                <a:ea typeface="Rubik"/>
                <a:cs typeface="Rubik"/>
                <a:sym typeface="Rubik"/>
              </a:rPr>
              <a:t>Phrase</a:t>
            </a:r>
            <a:endParaRPr sz="40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569575" y="190700"/>
            <a:ext cx="1779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ubik"/>
                <a:ea typeface="Rubik"/>
                <a:cs typeface="Rubik"/>
                <a:sym typeface="Rubik"/>
              </a:rPr>
              <a:t>KEY VOCABULARY</a:t>
            </a:r>
            <a:endParaRPr sz="120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74" name="Google Shape;7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075" y="1473600"/>
            <a:ext cx="2042450" cy="4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825" y="205550"/>
            <a:ext cx="294550" cy="320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850" y="137975"/>
            <a:ext cx="353400" cy="353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1" name="Google Shape;81;p10"/>
          <p:cNvGraphicFramePr/>
          <p:nvPr/>
        </p:nvGraphicFramePr>
        <p:xfrm>
          <a:off x="1605513" y="193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{9EF93E94-D66C-49C1-AA4A-0FABFF244BFC}</a:tableStyleId>
              </a:tblPr>
              <a:tblGrid>
                <a:gridCol w="623300"/>
                <a:gridCol w="5309675"/>
              </a:tblGrid>
              <a:tr h="45850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ubik Medium"/>
                          <a:ea typeface="Rubik Medium"/>
                          <a:cs typeface="Rubik Medium"/>
                          <a:sym typeface="Rubik Medium"/>
                        </a:rPr>
                        <a:t>Password Tips to Remember</a:t>
                      </a:r>
                      <a:endParaRPr sz="1200">
                        <a:latin typeface="Rubik Medium"/>
                        <a:ea typeface="Rubik Medium"/>
                        <a:cs typeface="Rubik Medium"/>
                        <a:sym typeface="Rubik Medium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24991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4991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4991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462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3A3A3A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24991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Start with a memorable ______________________.</a:t>
                      </a:r>
                      <a:endParaRPr sz="12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4991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3A3A3A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24991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Only your _________________ should know your password. </a:t>
                      </a:r>
                      <a:endParaRPr sz="12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4991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3A3A3A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24991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Never use any __________________ identity information in your password. </a:t>
                      </a:r>
                      <a:endParaRPr sz="12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4991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3A3A3A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24991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Create passwords with at least _____________ characters.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4991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3A3A3A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24991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4991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Use letters, numbers, and ___________________ in your password.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4991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4991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" name="Google Shape;82;p10"/>
          <p:cNvSpPr txBox="1"/>
          <p:nvPr/>
        </p:nvSpPr>
        <p:spPr>
          <a:xfrm>
            <a:off x="584150" y="190700"/>
            <a:ext cx="3385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ubik"/>
                <a:ea typeface="Rubik"/>
                <a:cs typeface="Rubik"/>
                <a:sym typeface="Rubik"/>
              </a:rPr>
              <a:t> WRAP UP: PASSWORD TIPS CLOZE NOTES</a:t>
            </a:r>
            <a:endParaRPr sz="12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3" name="Google Shape;83;p10"/>
          <p:cNvSpPr txBox="1"/>
          <p:nvPr/>
        </p:nvSpPr>
        <p:spPr>
          <a:xfrm>
            <a:off x="0" y="696192"/>
            <a:ext cx="91440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ubik"/>
                <a:ea typeface="Rubik"/>
                <a:cs typeface="Rubik"/>
                <a:sym typeface="Rubik"/>
              </a:rPr>
              <a:t>Directions</a:t>
            </a:r>
            <a:endParaRPr sz="30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07950" y="1262000"/>
            <a:ext cx="81906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274300" spcFirstLastPara="1" rIns="182875" wrap="square" tIns="182875">
            <a:noAutofit/>
          </a:bodyPr>
          <a:lstStyle/>
          <a:p>
            <a:pPr indent="-345440" lvl="0" marL="342900" rtl="0" algn="l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Lato Black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Complete each password tip on the handout by filling in the blank word.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5" name="Google Shape;8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7675" y="3703550"/>
            <a:ext cx="3333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7675" y="4033025"/>
            <a:ext cx="3333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7675" y="2936600"/>
            <a:ext cx="3333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7675" y="3320075"/>
            <a:ext cx="3333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7675" y="2498450"/>
            <a:ext cx="3333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0"/>
          <p:cNvSpPr txBox="1"/>
          <p:nvPr/>
        </p:nvSpPr>
        <p:spPr>
          <a:xfrm>
            <a:off x="3858925" y="2337900"/>
            <a:ext cx="13035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Indie Flower"/>
                <a:ea typeface="Indie Flower"/>
                <a:cs typeface="Indie Flower"/>
                <a:sym typeface="Indie Flower"/>
              </a:rPr>
              <a:t>phrase</a:t>
            </a:r>
            <a:endParaRPr b="1">
              <a:solidFill>
                <a:srgbClr val="FF0000"/>
              </a:solidFill>
              <a:latin typeface="Indie Flower"/>
              <a:ea typeface="Indie Flower"/>
              <a:cs typeface="Indie Flower"/>
              <a:sym typeface="Indie Flower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2947550" y="2737263"/>
            <a:ext cx="1021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Indie Flower"/>
                <a:ea typeface="Indie Flower"/>
                <a:cs typeface="Indie Flower"/>
                <a:sym typeface="Indie Flower"/>
              </a:rPr>
              <a:t>parents</a:t>
            </a:r>
            <a:endParaRPr b="1">
              <a:solidFill>
                <a:srgbClr val="FF0000"/>
              </a:solidFill>
              <a:latin typeface="Indie Flower"/>
              <a:ea typeface="Indie Flower"/>
              <a:cs typeface="Indie Flower"/>
              <a:sym typeface="Indie Flower"/>
            </a:endParaRPr>
          </a:p>
        </p:txBody>
      </p:sp>
      <p:sp>
        <p:nvSpPr>
          <p:cNvPr id="92" name="Google Shape;92;p10"/>
          <p:cNvSpPr txBox="1"/>
          <p:nvPr/>
        </p:nvSpPr>
        <p:spPr>
          <a:xfrm>
            <a:off x="3285825" y="3136625"/>
            <a:ext cx="1021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Indie Flower"/>
                <a:ea typeface="Indie Flower"/>
                <a:cs typeface="Indie Flower"/>
                <a:sym typeface="Indie Flower"/>
              </a:rPr>
              <a:t>private</a:t>
            </a:r>
            <a:endParaRPr b="1">
              <a:solidFill>
                <a:srgbClr val="FF0000"/>
              </a:solidFill>
              <a:latin typeface="Indie Flower"/>
              <a:ea typeface="Indie Flower"/>
              <a:cs typeface="Indie Flower"/>
              <a:sym typeface="Indie Flower"/>
            </a:endParaRPr>
          </a:p>
        </p:txBody>
      </p:sp>
      <p:sp>
        <p:nvSpPr>
          <p:cNvPr id="93" name="Google Shape;93;p10"/>
          <p:cNvSpPr txBox="1"/>
          <p:nvPr/>
        </p:nvSpPr>
        <p:spPr>
          <a:xfrm>
            <a:off x="4369275" y="3490025"/>
            <a:ext cx="7359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Indie Flower"/>
                <a:ea typeface="Indie Flower"/>
                <a:cs typeface="Indie Flower"/>
                <a:sym typeface="Indie Flower"/>
              </a:rPr>
              <a:t>eight</a:t>
            </a:r>
            <a:endParaRPr b="1">
              <a:solidFill>
                <a:srgbClr val="FF0000"/>
              </a:solidFill>
              <a:latin typeface="Indie Flower"/>
              <a:ea typeface="Indie Flower"/>
              <a:cs typeface="Indie Flower"/>
              <a:sym typeface="Indie Flower"/>
            </a:endParaRPr>
          </a:p>
        </p:txBody>
      </p:sp>
      <p:sp>
        <p:nvSpPr>
          <p:cNvPr id="94" name="Google Shape;94;p10"/>
          <p:cNvSpPr txBox="1"/>
          <p:nvPr/>
        </p:nvSpPr>
        <p:spPr>
          <a:xfrm>
            <a:off x="3961375" y="3935350"/>
            <a:ext cx="1143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Indie Flower"/>
                <a:ea typeface="Indie Flower"/>
                <a:cs typeface="Indie Flower"/>
                <a:sym typeface="Indie Flower"/>
              </a:rPr>
              <a:t>symbols</a:t>
            </a:r>
            <a:endParaRPr b="1">
              <a:solidFill>
                <a:srgbClr val="FF0000"/>
              </a:solidFill>
              <a:latin typeface="Indie Flower"/>
              <a:ea typeface="Indie Flower"/>
              <a:cs typeface="Indie Flower"/>
              <a:sym typeface="Indie Flow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543070">
            <a:off x="2486825" y="2096862"/>
            <a:ext cx="501650" cy="65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503965">
            <a:off x="6113950" y="2089752"/>
            <a:ext cx="501650" cy="65177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1"/>
          <p:cNvSpPr txBox="1"/>
          <p:nvPr/>
        </p:nvSpPr>
        <p:spPr>
          <a:xfrm>
            <a:off x="2996100" y="1980550"/>
            <a:ext cx="31518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We care about </a:t>
            </a:r>
            <a:endParaRPr b="1" sz="2400">
              <a:solidFill>
                <a:schemeClr val="accent5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everyone’s privacy.</a:t>
            </a:r>
            <a:endParaRPr b="1" sz="2400">
              <a:solidFill>
                <a:schemeClr val="accent5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gCit 2.0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